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13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84"/>
    <p:restoredTop sz="94655"/>
  </p:normalViewPr>
  <p:slideViewPr>
    <p:cSldViewPr snapToGrid="0" snapToObjects="1">
      <p:cViewPr varScale="1">
        <p:scale>
          <a:sx n="23" d="100"/>
          <a:sy n="23" d="100"/>
        </p:scale>
        <p:origin x="1340" y="68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227"/>
        <c:overlap val="-48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80808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9"/>
        </c:scaling>
        <c:delete val="0"/>
        <c:axPos val="b"/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80808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mAP50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080808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Ep 1</c:v>
                </c:pt>
                <c:pt idx="1">
                  <c:v>Ep 3</c:v>
                </c:pt>
                <c:pt idx="2">
                  <c:v>Ep 6</c:v>
                </c:pt>
                <c:pt idx="3">
                  <c:v>Ep 9</c:v>
                </c:pt>
                <c:pt idx="4">
                  <c:v>Ep 12</c:v>
                </c:pt>
                <c:pt idx="5">
                  <c:v>Ep 15</c:v>
                </c:pt>
                <c:pt idx="6">
                  <c:v>Ep 18</c:v>
                </c:pt>
                <c:pt idx="7">
                  <c:v>Ep 21</c:v>
                </c:pt>
                <c:pt idx="8">
                  <c:v>Ep 25</c:v>
                </c:pt>
                <c:pt idx="9">
                  <c:v>Ep 30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0.04</c:v>
                </c:pt>
                <c:pt idx="1">
                  <c:v>0.09</c:v>
                </c:pt>
                <c:pt idx="2">
                  <c:v>0.17599999999999999</c:v>
                </c:pt>
                <c:pt idx="3">
                  <c:v>0.28000000000000003</c:v>
                </c:pt>
                <c:pt idx="4">
                  <c:v>0.38</c:v>
                </c:pt>
                <c:pt idx="5">
                  <c:v>0.46</c:v>
                </c:pt>
                <c:pt idx="6">
                  <c:v>0.52</c:v>
                </c:pt>
                <c:pt idx="7">
                  <c:v>0.57099999999999995</c:v>
                </c:pt>
                <c:pt idx="8">
                  <c:v>0.61</c:v>
                </c:pt>
                <c:pt idx="9">
                  <c:v>0.63700000000000001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7C6-4ABE-AFB7-E9278E34195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80808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080808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Vert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Vert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0.49463</cdr:x>
      <cdr:y>0.00377</cdr:y>
    </cdr:from>
    <cdr:to>
      <cdr:x>1</cdr:x>
      <cdr:y>1</cdr:y>
    </cdr:to>
    <cdr:pic>
      <cdr:nvPicPr>
        <cdr:cNvPr id="5" name="Picture 4" descr="The image shows a mother monkey sitting on her baby, with a flipped and slightly enhanced color scheme, set against a backdrop of a cityscape under a cloudy sky.&#10;&#10;AI-generated content may be incorrect.">
          <a:extLst xmlns:a="http://schemas.openxmlformats.org/drawingml/2006/main">
            <a:ext uri="{FF2B5EF4-FFF2-40B4-BE49-F238E27FC236}">
              <a16:creationId xmlns:a16="http://schemas.microsoft.com/office/drawing/2014/main" id="{500A289F-E39F-89B3-EBEF-A6590A2EEA4B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5359129" y="26320"/>
          <a:ext cx="5475495" cy="6961158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</cdr:x>
      <cdr:y>0</cdr:y>
    </cdr:from>
    <cdr:to>
      <cdr:x>0.46963</cdr:x>
      <cdr:y>1</cdr:y>
    </cdr:to>
    <cdr:pic>
      <cdr:nvPicPr>
        <cdr:cNvPr id="7" name="Picture 6">
          <a:extLst xmlns:a="http://schemas.openxmlformats.org/drawingml/2006/main">
            <a:ext uri="{FF2B5EF4-FFF2-40B4-BE49-F238E27FC236}">
              <a16:creationId xmlns:a16="http://schemas.microsoft.com/office/drawing/2014/main" id="{C589757A-612C-D819-078D-C28F1368943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2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5088252" cy="6987478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E9724D-6106-B84D-AD73-88AB3BCE741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8A78A6-91B1-A94B-8013-D04A98434E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038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78A6-91B1-A94B-8013-D04A98434E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57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earch Poster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 descr="Vertical Divider"/>
          <p:cNvCxnSpPr/>
          <p:nvPr userDrawn="1"/>
        </p:nvCxnSpPr>
        <p:spPr bwMode="auto">
          <a:xfrm>
            <a:off x="11185525" y="6742380"/>
            <a:ext cx="0" cy="2286000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</p:cxnSp>
      <p:cxnSp>
        <p:nvCxnSpPr>
          <p:cNvPr id="9" name="Straight Connector 9"/>
          <p:cNvCxnSpPr>
            <a:cxnSpLocks noChangeShapeType="1"/>
          </p:cNvCxnSpPr>
          <p:nvPr userDrawn="1"/>
        </p:nvCxnSpPr>
        <p:spPr bwMode="auto">
          <a:xfrm>
            <a:off x="11307763" y="8992295"/>
            <a:ext cx="914400" cy="9144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cxnSp>
        <p:nvCxnSpPr>
          <p:cNvPr id="10" name="Straight Connector 9" descr="Vertical Divider"/>
          <p:cNvCxnSpPr/>
          <p:nvPr userDrawn="1"/>
        </p:nvCxnSpPr>
        <p:spPr bwMode="auto">
          <a:xfrm>
            <a:off x="21945600" y="6742380"/>
            <a:ext cx="0" cy="2286000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</p:cxnSp>
      <p:cxnSp>
        <p:nvCxnSpPr>
          <p:cNvPr id="11" name="Straight Connector 10" descr="Vertical Divider"/>
          <p:cNvCxnSpPr/>
          <p:nvPr userDrawn="1"/>
        </p:nvCxnSpPr>
        <p:spPr bwMode="auto">
          <a:xfrm>
            <a:off x="32705675" y="6742380"/>
            <a:ext cx="0" cy="2286000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</p:cxnSp>
      <p:sp>
        <p:nvSpPr>
          <p:cNvPr id="12" name="Content Placeholder 9"/>
          <p:cNvSpPr>
            <a:spLocks noGrp="1"/>
          </p:cNvSpPr>
          <p:nvPr>
            <p:ph sz="quarter" idx="10" hasCustomPrompt="1"/>
          </p:nvPr>
        </p:nvSpPr>
        <p:spPr>
          <a:xfrm>
            <a:off x="914400" y="6859659"/>
            <a:ext cx="9798050" cy="14728138"/>
          </a:xfrm>
          <a:prstGeom prst="rect">
            <a:avLst/>
          </a:prstGeom>
        </p:spPr>
        <p:txBody>
          <a:bodyPr/>
          <a:lstStyle>
            <a:lvl1pPr marL="0" indent="-457200">
              <a:lnSpc>
                <a:spcPts val="4600"/>
              </a:lnSpc>
              <a:spcBef>
                <a:spcPts val="0"/>
              </a:spcBef>
              <a:buFontTx/>
              <a:buNone/>
              <a:defRPr sz="2800" baseline="0">
                <a:solidFill>
                  <a:schemeClr val="tx1"/>
                </a:solidFill>
                <a:latin typeface="Arial" charset="0"/>
              </a:defRPr>
            </a:lvl1pPr>
            <a:lvl2pPr marL="914400" indent="-457200">
              <a:lnSpc>
                <a:spcPts val="4600"/>
              </a:lnSpc>
              <a:spcBef>
                <a:spcPts val="0"/>
              </a:spcBef>
              <a:buClr>
                <a:schemeClr val="tx2"/>
              </a:buClr>
              <a:buSzPct val="100000"/>
              <a:defRPr sz="2800" baseline="0">
                <a:solidFill>
                  <a:schemeClr val="tx1"/>
                </a:solidFill>
                <a:latin typeface="Arial" charset="0"/>
              </a:defRPr>
            </a:lvl2pPr>
            <a:lvl3pPr marL="1371600" indent="-274320">
              <a:lnSpc>
                <a:spcPts val="46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2800" baseline="0">
                <a:solidFill>
                  <a:schemeClr val="tx1"/>
                </a:solidFill>
                <a:latin typeface="Arial" charset="0"/>
              </a:defRPr>
            </a:lvl3pPr>
            <a:lvl4pPr marL="1645920" indent="-274320">
              <a:lnSpc>
                <a:spcPts val="46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2800" baseline="0">
                <a:solidFill>
                  <a:schemeClr val="tx1"/>
                </a:solidFill>
                <a:latin typeface="Arial" charset="0"/>
              </a:defRPr>
            </a:lvl4pPr>
            <a:lvl5pPr marL="1920240" indent="-274320">
              <a:lnSpc>
                <a:spcPts val="46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tabLst/>
              <a:defRPr sz="2800" baseline="0">
                <a:solidFill>
                  <a:schemeClr val="tx1"/>
                </a:solidFill>
                <a:latin typeface="Arial" charset="0"/>
              </a:defRPr>
            </a:lvl5pPr>
          </a:lstStyle>
          <a:p>
            <a:pPr lvl="1"/>
            <a:r>
              <a:rPr lang="en-US" dirty="0"/>
              <a:t>First level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</p:txBody>
      </p:sp>
      <p:sp>
        <p:nvSpPr>
          <p:cNvPr id="13" name="Picture Placeholder 2" descr="Photo alt tag goes here"/>
          <p:cNvSpPr>
            <a:spLocks noGrp="1"/>
          </p:cNvSpPr>
          <p:nvPr>
            <p:ph type="pic" sz="quarter" idx="16"/>
          </p:nvPr>
        </p:nvSpPr>
        <p:spPr>
          <a:xfrm>
            <a:off x="914400" y="22086737"/>
            <a:ext cx="9798050" cy="7452360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2" descr="Photo alt tag goes here"/>
          <p:cNvSpPr>
            <a:spLocks noGrp="1"/>
          </p:cNvSpPr>
          <p:nvPr>
            <p:ph type="pic" sz="quarter" idx="17"/>
          </p:nvPr>
        </p:nvSpPr>
        <p:spPr>
          <a:xfrm>
            <a:off x="33194624" y="17881325"/>
            <a:ext cx="9798050" cy="7452360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/>
          <a:lstStyle/>
          <a:p>
            <a:pPr mar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Content Placeholder 9"/>
          <p:cNvSpPr>
            <a:spLocks noGrp="1"/>
          </p:cNvSpPr>
          <p:nvPr>
            <p:ph sz="quarter" idx="18" hasCustomPrompt="1"/>
          </p:nvPr>
        </p:nvSpPr>
        <p:spPr>
          <a:xfrm>
            <a:off x="11674474" y="6859658"/>
            <a:ext cx="9798050" cy="2267944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4600"/>
              </a:lnSpc>
              <a:spcBef>
                <a:spcPts val="0"/>
              </a:spcBef>
              <a:buFontTx/>
              <a:buNone/>
              <a:defRPr sz="2800" baseline="0">
                <a:solidFill>
                  <a:schemeClr val="tx1"/>
                </a:solidFill>
                <a:latin typeface="Arial" charset="0"/>
              </a:defRPr>
            </a:lvl1pPr>
            <a:lvl2pPr marL="914400" indent="-457200">
              <a:lnSpc>
                <a:spcPts val="4600"/>
              </a:lnSpc>
              <a:spcBef>
                <a:spcPts val="0"/>
              </a:spcBef>
              <a:buClr>
                <a:schemeClr val="tx2"/>
              </a:buClr>
              <a:defRPr sz="2800" baseline="0">
                <a:solidFill>
                  <a:schemeClr val="tx1"/>
                </a:solidFill>
                <a:latin typeface="Arial" charset="0"/>
              </a:defRPr>
            </a:lvl2pPr>
            <a:lvl3pPr marL="1371600" indent="-274320">
              <a:lnSpc>
                <a:spcPts val="46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2800" baseline="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lnSpc>
                <a:spcPts val="46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2800" baseline="0">
                <a:solidFill>
                  <a:schemeClr val="tx1"/>
                </a:solidFill>
                <a:latin typeface="Arial" charset="0"/>
              </a:defRPr>
            </a:lvl4pPr>
            <a:lvl5pPr marL="2286000" indent="-457200">
              <a:lnSpc>
                <a:spcPts val="46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2800" baseline="0">
                <a:solidFill>
                  <a:schemeClr val="tx1"/>
                </a:solidFill>
                <a:latin typeface="Arial" charset="0"/>
              </a:defRPr>
            </a:lvl5pPr>
          </a:lstStyle>
          <a:p>
            <a:pPr lvl="1"/>
            <a:r>
              <a:rPr lang="en-US" dirty="0"/>
              <a:t>First level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</p:txBody>
      </p:sp>
      <p:sp>
        <p:nvSpPr>
          <p:cNvPr id="16" name="Content Placeholder 9"/>
          <p:cNvSpPr>
            <a:spLocks noGrp="1"/>
          </p:cNvSpPr>
          <p:nvPr>
            <p:ph sz="quarter" idx="19" hasCustomPrompt="1"/>
          </p:nvPr>
        </p:nvSpPr>
        <p:spPr>
          <a:xfrm>
            <a:off x="22418677" y="6863122"/>
            <a:ext cx="9798050" cy="6975763"/>
          </a:xfrm>
          <a:prstGeom prst="rect">
            <a:avLst/>
          </a:prstGeom>
        </p:spPr>
        <p:txBody>
          <a:bodyPr/>
          <a:lstStyle>
            <a:lvl1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 marL="914400" indent="-457200">
              <a:lnSpc>
                <a:spcPts val="4600"/>
              </a:lnSpc>
              <a:spcBef>
                <a:spcPts val="0"/>
              </a:spcBef>
              <a:buClr>
                <a:schemeClr val="accent1"/>
              </a:buClr>
              <a:defRPr sz="2800" baseline="0">
                <a:solidFill>
                  <a:schemeClr val="tx1"/>
                </a:solidFill>
                <a:latin typeface="Arial" charset="0"/>
              </a:defRPr>
            </a:lvl2pPr>
            <a:lvl3pPr marL="1371600" indent="-274320">
              <a:lnSpc>
                <a:spcPts val="46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2800" baseline="0">
                <a:solidFill>
                  <a:schemeClr val="tx1"/>
                </a:solidFill>
                <a:latin typeface="Arial" charset="0"/>
              </a:defRPr>
            </a:lvl3pPr>
            <a:lvl4pPr marL="1645920" indent="-274320">
              <a:lnSpc>
                <a:spcPts val="46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2800" baseline="0">
                <a:solidFill>
                  <a:schemeClr val="tx1"/>
                </a:solidFill>
                <a:latin typeface="Arial" charset="0"/>
              </a:defRPr>
            </a:lvl4pPr>
            <a:lvl5pPr marL="1920240" indent="-274320">
              <a:lnSpc>
                <a:spcPts val="46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2800" baseline="0">
                <a:solidFill>
                  <a:schemeClr val="tx1"/>
                </a:solidFill>
                <a:latin typeface="Arial" charset="0"/>
              </a:defRPr>
            </a:lvl5pPr>
          </a:lstStyle>
          <a:p>
            <a:pPr lvl="1"/>
            <a:r>
              <a:rPr lang="en-US" dirty="0"/>
              <a:t>First level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</p:txBody>
      </p:sp>
      <p:sp>
        <p:nvSpPr>
          <p:cNvPr id="17" name="Content Placeholder 9"/>
          <p:cNvSpPr>
            <a:spLocks noGrp="1"/>
          </p:cNvSpPr>
          <p:nvPr>
            <p:ph sz="quarter" idx="20" hasCustomPrompt="1"/>
          </p:nvPr>
        </p:nvSpPr>
        <p:spPr>
          <a:xfrm>
            <a:off x="33194624" y="6859659"/>
            <a:ext cx="9798050" cy="10195894"/>
          </a:xfrm>
          <a:prstGeom prst="rect">
            <a:avLst/>
          </a:prstGeom>
        </p:spPr>
        <p:txBody>
          <a:bodyPr/>
          <a:lstStyle>
            <a:lvl1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 marL="914400" indent="-457200">
              <a:lnSpc>
                <a:spcPts val="4600"/>
              </a:lnSpc>
              <a:spcBef>
                <a:spcPts val="0"/>
              </a:spcBef>
              <a:buClr>
                <a:schemeClr val="tx2"/>
              </a:buClr>
              <a:defRPr sz="2800" baseline="0">
                <a:solidFill>
                  <a:schemeClr val="tx1"/>
                </a:solidFill>
                <a:latin typeface="Arial" charset="0"/>
              </a:defRPr>
            </a:lvl2pPr>
            <a:lvl3pPr marL="1371600" indent="-274320">
              <a:lnSpc>
                <a:spcPts val="46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2800" baseline="0">
                <a:solidFill>
                  <a:schemeClr val="tx1"/>
                </a:solidFill>
                <a:latin typeface="Arial" charset="0"/>
              </a:defRPr>
            </a:lvl3pPr>
            <a:lvl4pPr marL="1645920" indent="-274320">
              <a:lnSpc>
                <a:spcPts val="46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2800" baseline="0">
                <a:solidFill>
                  <a:schemeClr val="tx1"/>
                </a:solidFill>
                <a:latin typeface="Arial" charset="0"/>
              </a:defRPr>
            </a:lvl4pPr>
            <a:lvl5pPr marL="1920240" indent="-274320">
              <a:lnSpc>
                <a:spcPts val="46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2800" baseline="0">
                <a:solidFill>
                  <a:schemeClr val="tx1"/>
                </a:solidFill>
                <a:latin typeface="Arial" charset="0"/>
              </a:defRPr>
            </a:lvl5pPr>
          </a:lstStyle>
          <a:p>
            <a:pPr lvl="1"/>
            <a:r>
              <a:rPr lang="en-US" dirty="0"/>
              <a:t>First level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</p:txBody>
      </p:sp>
      <p:sp>
        <p:nvSpPr>
          <p:cNvPr id="18" name="Content Placeholder 9"/>
          <p:cNvSpPr>
            <a:spLocks noGrp="1"/>
          </p:cNvSpPr>
          <p:nvPr>
            <p:ph sz="quarter" idx="21" hasCustomPrompt="1"/>
          </p:nvPr>
        </p:nvSpPr>
        <p:spPr>
          <a:xfrm>
            <a:off x="33194624" y="25808882"/>
            <a:ext cx="9798050" cy="3849485"/>
          </a:xfrm>
          <a:prstGeom prst="rect">
            <a:avLst/>
          </a:prstGeom>
        </p:spPr>
        <p:txBody>
          <a:bodyPr/>
          <a:lstStyle>
            <a:lvl1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 marL="914400" indent="-457200">
              <a:lnSpc>
                <a:spcPts val="4600"/>
              </a:lnSpc>
              <a:spcBef>
                <a:spcPts val="0"/>
              </a:spcBef>
              <a:buClr>
                <a:schemeClr val="tx2"/>
              </a:buClr>
              <a:defRPr sz="2800" baseline="0">
                <a:solidFill>
                  <a:schemeClr val="tx1"/>
                </a:solidFill>
                <a:latin typeface="Arial" charset="0"/>
              </a:defRPr>
            </a:lvl2pPr>
            <a:lvl3pPr marL="1371600" indent="-274320">
              <a:lnSpc>
                <a:spcPts val="46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2800" baseline="0">
                <a:solidFill>
                  <a:schemeClr val="tx1"/>
                </a:solidFill>
                <a:latin typeface="Arial" charset="0"/>
              </a:defRPr>
            </a:lvl3pPr>
            <a:lvl4pPr marL="1645920" indent="-274320">
              <a:lnSpc>
                <a:spcPts val="46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2800" baseline="0">
                <a:solidFill>
                  <a:schemeClr val="tx1"/>
                </a:solidFill>
                <a:latin typeface="Arial" charset="0"/>
              </a:defRPr>
            </a:lvl4pPr>
            <a:lvl5pPr marL="1920240" indent="-274320">
              <a:lnSpc>
                <a:spcPts val="46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2800" baseline="0">
                <a:solidFill>
                  <a:schemeClr val="tx1"/>
                </a:solidFill>
                <a:latin typeface="Arial" charset="0"/>
              </a:defRPr>
            </a:lvl5pPr>
          </a:lstStyle>
          <a:p>
            <a:pPr lvl="1"/>
            <a:r>
              <a:rPr lang="en-US" dirty="0"/>
              <a:t>First level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</p:txBody>
      </p:sp>
      <p:sp>
        <p:nvSpPr>
          <p:cNvPr id="19" name="Chart Placeholder 23"/>
          <p:cNvSpPr>
            <a:spLocks noGrp="1"/>
          </p:cNvSpPr>
          <p:nvPr>
            <p:ph type="chart" sz="quarter" idx="22" hasCustomPrompt="1"/>
          </p:nvPr>
        </p:nvSpPr>
        <p:spPr>
          <a:xfrm>
            <a:off x="22550435" y="14690434"/>
            <a:ext cx="9666291" cy="69421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914400" indent="-457200">
              <a:lnSpc>
                <a:spcPts val="4600"/>
              </a:lnSpc>
              <a:spcBef>
                <a:spcPts val="0"/>
              </a:spcBef>
              <a:buClr>
                <a:schemeClr val="tx2"/>
              </a:buClr>
              <a:defRPr sz="2800">
                <a:solidFill>
                  <a:schemeClr val="tx1"/>
                </a:solidFill>
              </a:defRPr>
            </a:lvl2pPr>
            <a:lvl3pPr marL="1371600" indent="-274320">
              <a:lnSpc>
                <a:spcPts val="46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2800">
                <a:solidFill>
                  <a:schemeClr val="tx1"/>
                </a:solidFill>
              </a:defRPr>
            </a:lvl3pPr>
            <a:lvl4pPr marL="1645920" indent="-274320">
              <a:lnSpc>
                <a:spcPts val="46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2800">
                <a:solidFill>
                  <a:schemeClr val="tx1"/>
                </a:solidFill>
              </a:defRPr>
            </a:lvl4pPr>
            <a:lvl5pPr marL="1920240" indent="-274320">
              <a:lnSpc>
                <a:spcPts val="46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280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First level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Fourth level</a:t>
            </a:r>
          </a:p>
          <a:p>
            <a:endParaRPr lang="en-US" dirty="0"/>
          </a:p>
        </p:txBody>
      </p:sp>
      <p:sp>
        <p:nvSpPr>
          <p:cNvPr id="20" name="Content Placeholder 9"/>
          <p:cNvSpPr>
            <a:spLocks noGrp="1"/>
          </p:cNvSpPr>
          <p:nvPr>
            <p:ph sz="quarter" idx="23" hasCustomPrompt="1"/>
          </p:nvPr>
        </p:nvSpPr>
        <p:spPr>
          <a:xfrm>
            <a:off x="22550435" y="22557898"/>
            <a:ext cx="9798050" cy="7140230"/>
          </a:xfrm>
          <a:prstGeom prst="rect">
            <a:avLst/>
          </a:prstGeom>
        </p:spPr>
        <p:txBody>
          <a:bodyPr/>
          <a:lstStyle>
            <a:lvl1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 marL="914400" indent="-457200">
              <a:lnSpc>
                <a:spcPts val="4600"/>
              </a:lnSpc>
              <a:spcBef>
                <a:spcPts val="0"/>
              </a:spcBef>
              <a:buClr>
                <a:schemeClr val="tx2"/>
              </a:buClr>
              <a:defRPr sz="2800" baseline="0">
                <a:solidFill>
                  <a:schemeClr val="tx1"/>
                </a:solidFill>
                <a:latin typeface="Arial" charset="0"/>
              </a:defRPr>
            </a:lvl2pPr>
            <a:lvl3pPr marL="1371600" indent="-274320">
              <a:lnSpc>
                <a:spcPts val="46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2800" baseline="0">
                <a:solidFill>
                  <a:schemeClr val="tx1"/>
                </a:solidFill>
                <a:latin typeface="Arial" charset="0"/>
              </a:defRPr>
            </a:lvl3pPr>
            <a:lvl4pPr marL="1645920" indent="-274320">
              <a:lnSpc>
                <a:spcPts val="46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2800" baseline="0">
                <a:solidFill>
                  <a:schemeClr val="tx1"/>
                </a:solidFill>
                <a:latin typeface="Arial" charset="0"/>
              </a:defRPr>
            </a:lvl4pPr>
            <a:lvl5pPr marL="1920240" indent="-274320">
              <a:lnSpc>
                <a:spcPts val="46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2800" baseline="0">
                <a:solidFill>
                  <a:schemeClr val="tx1"/>
                </a:solidFill>
                <a:latin typeface="Arial" charset="0"/>
              </a:defRPr>
            </a:lvl5pPr>
          </a:lstStyle>
          <a:p>
            <a:pPr lvl="1"/>
            <a:r>
              <a:rPr lang="en-US" dirty="0"/>
              <a:t>First level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587378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68" userDrawn="1">
          <p15:clr>
            <a:srgbClr val="FBAE40"/>
          </p15:clr>
        </p15:guide>
        <p15:guide id="2" pos="1382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4171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6" descr="alt=&quot;&quot;"/>
          <p:cNvSpPr>
            <a:spLocks noChangeArrowheads="1"/>
          </p:cNvSpPr>
          <p:nvPr userDrawn="1"/>
        </p:nvSpPr>
        <p:spPr bwMode="auto">
          <a:xfrm>
            <a:off x="0" y="30409662"/>
            <a:ext cx="43891200" cy="2508738"/>
          </a:xfrm>
          <a:prstGeom prst="rect">
            <a:avLst/>
          </a:prstGeom>
          <a:solidFill>
            <a:srgbClr val="005BBB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37931725" indent="-37474525"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US" altLang="en-US" b="0" i="0" baseline="0" dirty="0">
              <a:solidFill>
                <a:schemeClr val="tx1"/>
              </a:solidFill>
              <a:latin typeface="Arial" charset="0"/>
              <a:ea typeface="Arial" charset="0"/>
            </a:endParaRPr>
          </a:p>
        </p:txBody>
      </p:sp>
      <p:sp>
        <p:nvSpPr>
          <p:cNvPr id="8" name="Rectangle 36" descr="alt=&quot;&quot;"/>
          <p:cNvSpPr>
            <a:spLocks noChangeArrowheads="1"/>
          </p:cNvSpPr>
          <p:nvPr userDrawn="1"/>
        </p:nvSpPr>
        <p:spPr bwMode="auto">
          <a:xfrm>
            <a:off x="0" y="0"/>
            <a:ext cx="43891200" cy="5486400"/>
          </a:xfrm>
          <a:prstGeom prst="rect">
            <a:avLst/>
          </a:prstGeom>
          <a:solidFill>
            <a:srgbClr val="005BBB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37931725" indent="-37474525"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US" altLang="en-US" b="0" i="0" baseline="0" dirty="0">
              <a:solidFill>
                <a:schemeClr val="tx1"/>
              </a:solidFill>
              <a:latin typeface="Arial" charset="0"/>
              <a:ea typeface="Arial" charset="0"/>
            </a:endParaRPr>
          </a:p>
        </p:txBody>
      </p:sp>
      <p:sp>
        <p:nvSpPr>
          <p:cNvPr id="2" name="Rectangle 1" descr="alt=&quot;&quot;"/>
          <p:cNvSpPr/>
          <p:nvPr userDrawn="1"/>
        </p:nvSpPr>
        <p:spPr>
          <a:xfrm>
            <a:off x="-1" y="5257800"/>
            <a:ext cx="43891201" cy="2612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UB Crest"/>
          <p:cNvPicPr>
            <a:picLocks noChangeAspect="1"/>
          </p:cNvPicPr>
          <p:nvPr userDrawn="1"/>
        </p:nvPicPr>
        <p:blipFill rotWithShape="1">
          <a:blip r:embed="rId4">
            <a:alphaModFix amt="4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5" b="40121"/>
          <a:stretch/>
        </p:blipFill>
        <p:spPr>
          <a:xfrm>
            <a:off x="32191332" y="0"/>
            <a:ext cx="9341680" cy="5256959"/>
          </a:xfrm>
          <a:prstGeom prst="rect">
            <a:avLst/>
          </a:prstGeom>
        </p:spPr>
      </p:pic>
      <p:pic>
        <p:nvPicPr>
          <p:cNvPr id="4" name="Picture 3" descr="University at Buffalo, The State University of New York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733" y="31154745"/>
            <a:ext cx="13595412" cy="1008282"/>
          </a:xfrm>
          <a:prstGeom prst="rect">
            <a:avLst/>
          </a:prstGeom>
        </p:spPr>
      </p:pic>
      <p:cxnSp>
        <p:nvCxnSpPr>
          <p:cNvPr id="7" name="Straight Connector 6" descr="alt=&quot;&quot;"/>
          <p:cNvCxnSpPr/>
          <p:nvPr userDrawn="1"/>
        </p:nvCxnSpPr>
        <p:spPr>
          <a:xfrm>
            <a:off x="32696865" y="30837463"/>
            <a:ext cx="0" cy="1588169"/>
          </a:xfrm>
          <a:prstGeom prst="line">
            <a:avLst/>
          </a:prstGeom>
          <a:ln w="254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499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oster Title"/>
          <p:cNvSpPr>
            <a:spLocks noChangeArrowheads="1"/>
          </p:cNvSpPr>
          <p:nvPr/>
        </p:nvSpPr>
        <p:spPr bwMode="auto">
          <a:xfrm>
            <a:off x="999938" y="1550522"/>
            <a:ext cx="41224200" cy="315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243" tIns="45614" rIns="91243" bIns="45614"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37931725" indent="-37474525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8800" dirty="0" err="1">
                <a:solidFill>
                  <a:srgbClr val="FFFFFF"/>
                </a:solidFill>
                <a:latin typeface="+mn-lt"/>
                <a:ea typeface="Arial" charset="0"/>
              </a:rPr>
              <a:t>WildlifeWatch</a:t>
            </a:r>
            <a:endParaRPr lang="en-US" altLang="en-US" sz="8800" dirty="0">
              <a:solidFill>
                <a:srgbClr val="FFFFFF"/>
              </a:solidFill>
              <a:latin typeface="+mn-lt"/>
              <a:ea typeface="Arial" charset="0"/>
            </a:endParaRPr>
          </a:p>
          <a:p>
            <a:pPr>
              <a:spcBef>
                <a:spcPts val="600"/>
              </a:spcBef>
              <a:spcAft>
                <a:spcPts val="1800"/>
              </a:spcAft>
              <a:defRPr/>
            </a:pPr>
            <a:r>
              <a:rPr lang="en-US" altLang="en-US" sz="4400" dirty="0">
                <a:solidFill>
                  <a:srgbClr val="FFFFFF"/>
                </a:solidFill>
                <a:latin typeface="+mn-lt"/>
                <a:ea typeface="Arial" charset="0"/>
              </a:rPr>
              <a:t>An Application of </a:t>
            </a:r>
            <a:r>
              <a:rPr lang="en-US" altLang="en-US" sz="4400" dirty="0" err="1">
                <a:solidFill>
                  <a:srgbClr val="FFFFFF"/>
                </a:solidFill>
                <a:latin typeface="+mn-lt"/>
                <a:ea typeface="Arial" charset="0"/>
              </a:rPr>
              <a:t>MegaDetector</a:t>
            </a:r>
            <a:r>
              <a:rPr lang="en-US" altLang="en-US" sz="4400" dirty="0">
                <a:solidFill>
                  <a:srgbClr val="FFFFFF"/>
                </a:solidFill>
                <a:latin typeface="+mn-lt"/>
                <a:ea typeface="Arial" charset="0"/>
              </a:rPr>
              <a:t> (YOLOv5) in specialized Species Detection and </a:t>
            </a:r>
            <a:r>
              <a:rPr lang="en-US" altLang="en-US" sz="4400" dirty="0" err="1">
                <a:solidFill>
                  <a:srgbClr val="FFFFFF"/>
                </a:solidFill>
                <a:latin typeface="+mn-lt"/>
                <a:ea typeface="Arial" charset="0"/>
              </a:rPr>
              <a:t>Identificiation</a:t>
            </a:r>
            <a:endParaRPr lang="en-US" altLang="en-US" sz="4400" dirty="0">
              <a:solidFill>
                <a:srgbClr val="FFFFFF"/>
              </a:solidFill>
              <a:latin typeface="+mn-lt"/>
              <a:ea typeface="Arial" charset="0"/>
            </a:endParaRPr>
          </a:p>
          <a:p>
            <a:pPr>
              <a:spcBef>
                <a:spcPts val="1800"/>
              </a:spcBef>
              <a:defRPr/>
            </a:pPr>
            <a:r>
              <a:rPr lang="en-US" altLang="en-US" sz="3200" dirty="0">
                <a:solidFill>
                  <a:srgbClr val="FFFFFF"/>
                </a:solidFill>
                <a:latin typeface="+mn-lt"/>
                <a:ea typeface="Arial" charset="0"/>
              </a:rPr>
              <a:t>Prateek Ghosh</a:t>
            </a:r>
          </a:p>
        </p:txBody>
      </p:sp>
      <p:sp>
        <p:nvSpPr>
          <p:cNvPr id="7" name="Introduction Textbox"/>
          <p:cNvSpPr txBox="1">
            <a:spLocks noChangeArrowheads="1"/>
          </p:cNvSpPr>
          <p:nvPr/>
        </p:nvSpPr>
        <p:spPr bwMode="auto">
          <a:xfrm>
            <a:off x="1010653" y="6932975"/>
            <a:ext cx="9829800" cy="5979201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  <a:effectLst/>
        </p:spPr>
        <p:txBody>
          <a:bodyPr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>
              <a:lnSpc>
                <a:spcPts val="4600"/>
              </a:lnSpc>
              <a:spcAft>
                <a:spcPts val="1200"/>
              </a:spcAft>
            </a:pPr>
            <a:r>
              <a:rPr lang="en-US" sz="4800" b="1" dirty="0">
                <a:solidFill>
                  <a:srgbClr val="005BBB"/>
                </a:solidFill>
                <a:latin typeface="+mn-lt"/>
              </a:rPr>
              <a:t>Introduction</a:t>
            </a:r>
          </a:p>
          <a:p>
            <a:r>
              <a:rPr lang="en-US" sz="3600" dirty="0">
                <a:solidFill>
                  <a:srgbClr val="0D1B2A"/>
                </a:solidFill>
                <a:latin typeface="+mn-lt"/>
                <a:ea typeface="Calibri" pitchFamily="34" charset="-122"/>
                <a:cs typeface="Calibri" pitchFamily="34" charset="-120"/>
              </a:rPr>
              <a:t>Wildlife monitoring traditionally relies on static camera trap images processed offline — results arrive hours or days after capture.. These images are often analyzed by humans making it a painstaking manual process. </a:t>
            </a:r>
          </a:p>
          <a:p>
            <a:endParaRPr lang="en-US" sz="3600" dirty="0">
              <a:solidFill>
                <a:srgbClr val="0D1B2A"/>
              </a:solidFill>
              <a:latin typeface="+mn-lt"/>
              <a:ea typeface="Calibri" pitchFamily="34" charset="-122"/>
              <a:cs typeface="Calibri" pitchFamily="34" charset="-120"/>
            </a:endParaRPr>
          </a:p>
          <a:p>
            <a:r>
              <a:rPr lang="en-US" sz="3600" dirty="0">
                <a:solidFill>
                  <a:srgbClr val="0D1B2A"/>
                </a:solidFill>
                <a:latin typeface="+mn-lt"/>
                <a:ea typeface="Calibri" pitchFamily="34" charset="-122"/>
                <a:cs typeface="Calibri" pitchFamily="34" charset="-120"/>
              </a:rPr>
              <a:t>We are utilizing Vision Intelligence to analyze frames, photos to identify </a:t>
            </a:r>
            <a:r>
              <a:rPr lang="en-US" sz="4000" dirty="0">
                <a:solidFill>
                  <a:srgbClr val="0D1B2A"/>
                </a:solidFill>
                <a:latin typeface="+mn-lt"/>
                <a:ea typeface="Calibri" pitchFamily="34" charset="-122"/>
                <a:cs typeface="Calibri" pitchFamily="34" charset="-120"/>
              </a:rPr>
              <a:t>scientific species.</a:t>
            </a:r>
            <a:endParaRPr lang="en-US" sz="4800" dirty="0">
              <a:latin typeface="+mn-lt"/>
            </a:endParaRPr>
          </a:p>
          <a:p>
            <a:pPr>
              <a:lnSpc>
                <a:spcPts val="5600"/>
              </a:lnSpc>
              <a:spcBef>
                <a:spcPts val="0"/>
              </a:spcBef>
            </a:pPr>
            <a:endParaRPr lang="en-US" altLang="en-US" sz="3800" dirty="0">
              <a:latin typeface="+mn-lt"/>
              <a:ea typeface="Arial" charset="0"/>
            </a:endParaRPr>
          </a:p>
        </p:txBody>
      </p:sp>
      <p:cxnSp>
        <p:nvCxnSpPr>
          <p:cNvPr id="31" name="Horizontal Section Divider" descr="Horizontal Divider"/>
          <p:cNvCxnSpPr/>
          <p:nvPr/>
        </p:nvCxnSpPr>
        <p:spPr bwMode="auto">
          <a:xfrm>
            <a:off x="946150" y="13477190"/>
            <a:ext cx="9589328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9" name="Methods Textbox"/>
          <p:cNvSpPr txBox="1"/>
          <p:nvPr/>
        </p:nvSpPr>
        <p:spPr>
          <a:xfrm>
            <a:off x="946150" y="14020147"/>
            <a:ext cx="9829800" cy="7077515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>
            <a:spAutoFit/>
          </a:bodyPr>
          <a:lstStyle/>
          <a:p>
            <a:pPr>
              <a:lnSpc>
                <a:spcPts val="4600"/>
              </a:lnSpc>
              <a:spcAft>
                <a:spcPts val="1200"/>
              </a:spcAft>
              <a:defRPr/>
            </a:pPr>
            <a:r>
              <a:rPr lang="en-US" sz="4800" b="1" dirty="0">
                <a:solidFill>
                  <a:srgbClr val="005BBB"/>
                </a:solidFill>
              </a:rPr>
              <a:t>Methods</a:t>
            </a:r>
          </a:p>
          <a:p>
            <a:pPr>
              <a:lnSpc>
                <a:spcPts val="46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lang="en-US" sz="3600" dirty="0">
                <a:solidFill>
                  <a:srgbClr val="080808"/>
                </a:solidFill>
                <a:ea typeface="Arial" charset="0"/>
                <a:cs typeface="Arial" charset="0"/>
              </a:rPr>
              <a:t>We fine-tune </a:t>
            </a:r>
            <a:r>
              <a:rPr lang="en-US" sz="3600" dirty="0" err="1">
                <a:solidFill>
                  <a:srgbClr val="080808"/>
                </a:solidFill>
                <a:ea typeface="Arial" charset="0"/>
                <a:cs typeface="Arial" charset="0"/>
              </a:rPr>
              <a:t>MegaDetector</a:t>
            </a:r>
            <a:r>
              <a:rPr lang="en-US" sz="3600" dirty="0">
                <a:solidFill>
                  <a:srgbClr val="080808"/>
                </a:solidFill>
                <a:ea typeface="Arial" charset="0"/>
                <a:cs typeface="Arial" charset="0"/>
              </a:rPr>
              <a:t> v5a - a YOLOv5x6 model pretrained on millions of wildlife camera trap images - expanding it from 3 generic classes to 500 fine-grained vertebrate species.</a:t>
            </a:r>
          </a:p>
          <a:p>
            <a:pPr>
              <a:lnSpc>
                <a:spcPts val="4600"/>
              </a:lnSpc>
              <a:spcBef>
                <a:spcPts val="0"/>
              </a:spcBef>
              <a:spcAft>
                <a:spcPts val="1000"/>
              </a:spcAft>
              <a:defRPr/>
            </a:pPr>
            <a:endParaRPr lang="en-US" sz="3600" dirty="0">
              <a:solidFill>
                <a:srgbClr val="080808"/>
              </a:solidFill>
              <a:ea typeface="Arial" charset="0"/>
              <a:cs typeface="Arial" charset="0"/>
            </a:endParaRPr>
          </a:p>
          <a:p>
            <a:pPr>
              <a:lnSpc>
                <a:spcPts val="4600"/>
              </a:lnSpc>
              <a:spcBef>
                <a:spcPts val="0"/>
              </a:spcBef>
              <a:spcAft>
                <a:spcPts val="1000"/>
              </a:spcAft>
              <a:defRPr/>
            </a:pPr>
            <a:r>
              <a:rPr lang="en-US" sz="3600" dirty="0">
                <a:solidFill>
                  <a:srgbClr val="080808"/>
                </a:solidFill>
                <a:ea typeface="Arial" charset="0"/>
                <a:cs typeface="Arial" charset="0"/>
              </a:rPr>
              <a:t>This is the first known fine-tune of </a:t>
            </a:r>
            <a:r>
              <a:rPr lang="en-US" sz="3600" dirty="0" err="1">
                <a:solidFill>
                  <a:srgbClr val="080808"/>
                </a:solidFill>
                <a:ea typeface="Arial" charset="0"/>
                <a:cs typeface="Arial" charset="0"/>
              </a:rPr>
              <a:t>MegaDetector</a:t>
            </a:r>
            <a:r>
              <a:rPr lang="en-US" sz="3600" dirty="0">
                <a:solidFill>
                  <a:srgbClr val="080808"/>
                </a:solidFill>
                <a:ea typeface="Arial" charset="0"/>
                <a:cs typeface="Arial" charset="0"/>
              </a:rPr>
              <a:t> for species-level detection, paired with a video inference pipeline and IUCN conservation enrichment.</a:t>
            </a:r>
          </a:p>
          <a:p>
            <a:pPr>
              <a:lnSpc>
                <a:spcPts val="4600"/>
              </a:lnSpc>
              <a:spcBef>
                <a:spcPts val="0"/>
              </a:spcBef>
              <a:spcAft>
                <a:spcPts val="1000"/>
              </a:spcAft>
              <a:defRPr/>
            </a:pPr>
            <a:endParaRPr lang="en-US" sz="3600" dirty="0">
              <a:ea typeface="Arial" charset="0"/>
              <a:cs typeface="Arial" charset="0"/>
            </a:endParaRPr>
          </a:p>
        </p:txBody>
      </p:sp>
      <p:sp>
        <p:nvSpPr>
          <p:cNvPr id="45" name="Picture Placeholder 1 Caption"/>
          <p:cNvSpPr txBox="1"/>
          <p:nvPr/>
        </p:nvSpPr>
        <p:spPr>
          <a:xfrm>
            <a:off x="881046" y="28843168"/>
            <a:ext cx="9829800" cy="461665"/>
          </a:xfrm>
          <a:prstGeom prst="rect">
            <a:avLst/>
          </a:prstGeom>
          <a:solidFill>
            <a:schemeClr val="bg1">
              <a:alpha val="42000"/>
            </a:schemeClr>
          </a:solidFill>
        </p:spPr>
        <p:txBody>
          <a:bodyPr>
            <a:spAutoFit/>
          </a:bodyPr>
          <a:lstStyle/>
          <a:p>
            <a:pPr algn="ctr">
              <a:spcBef>
                <a:spcPts val="600"/>
              </a:spcBef>
              <a:buClr>
                <a:schemeClr val="tx2"/>
              </a:buClr>
              <a:defRPr/>
            </a:pPr>
            <a:r>
              <a:rPr lang="en-US" sz="2400" i="1" dirty="0">
                <a:solidFill>
                  <a:srgbClr val="080808"/>
                </a:solidFill>
                <a:ea typeface="Arial" charset="0"/>
                <a:cs typeface="Arial" charset="0"/>
              </a:rPr>
              <a:t>Fig 1 What our pipeline looks like zoomed in</a:t>
            </a:r>
            <a:r>
              <a:rPr lang="en-US" sz="2400" i="1" dirty="0">
                <a:ea typeface="Arial" charset="0"/>
                <a:cs typeface="Arial" charset="0"/>
              </a:rPr>
              <a:t>.</a:t>
            </a:r>
          </a:p>
        </p:txBody>
      </p:sp>
      <p:sp>
        <p:nvSpPr>
          <p:cNvPr id="19" name="Data Analysis Textbox"/>
          <p:cNvSpPr txBox="1"/>
          <p:nvPr/>
        </p:nvSpPr>
        <p:spPr>
          <a:xfrm>
            <a:off x="11628404" y="6932975"/>
            <a:ext cx="9829800" cy="692434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>
            <a:spAutoFit/>
          </a:bodyPr>
          <a:lstStyle/>
          <a:p>
            <a:pPr>
              <a:lnSpc>
                <a:spcPts val="4600"/>
              </a:lnSpc>
              <a:spcAft>
                <a:spcPts val="1200"/>
              </a:spcAft>
              <a:defRPr/>
            </a:pPr>
            <a:r>
              <a:rPr lang="en-US" sz="5400" b="1" dirty="0">
                <a:solidFill>
                  <a:srgbClr val="005BBB"/>
                </a:solidFill>
              </a:rPr>
              <a:t>Data Pipeline</a:t>
            </a:r>
          </a:p>
        </p:txBody>
      </p:sp>
      <p:cxnSp>
        <p:nvCxnSpPr>
          <p:cNvPr id="32" name="Horizontal Section Divider" descr="Horizontal Divider"/>
          <p:cNvCxnSpPr/>
          <p:nvPr/>
        </p:nvCxnSpPr>
        <p:spPr bwMode="auto">
          <a:xfrm>
            <a:off x="11658600" y="18745599"/>
            <a:ext cx="9784080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86" name="Vertical Section Divider" descr="Vertical Divider"/>
          <p:cNvCxnSpPr/>
          <p:nvPr/>
        </p:nvCxnSpPr>
        <p:spPr bwMode="auto">
          <a:xfrm>
            <a:off x="16640791" y="19222937"/>
            <a:ext cx="0" cy="4466253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33" name="Horizontal Section Divider" descr="Horizontal Divider"/>
          <p:cNvCxnSpPr/>
          <p:nvPr/>
        </p:nvCxnSpPr>
        <p:spPr bwMode="auto">
          <a:xfrm>
            <a:off x="11658600" y="24147732"/>
            <a:ext cx="9829800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18" name="Data Table " descr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029958"/>
              </p:ext>
            </p:extLst>
          </p:nvPr>
        </p:nvGraphicFramePr>
        <p:xfrm>
          <a:off x="11700545" y="24716453"/>
          <a:ext cx="9829800" cy="4924211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4523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6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1514">
                <a:tc gridSpan="2"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n>
                            <a:noFill/>
                            <a:prstDash val="dash"/>
                          </a:ln>
                          <a:solidFill>
                            <a:schemeClr val="bg1"/>
                          </a:solidFill>
                        </a:rPr>
                        <a:t>Accuracy Metrics 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n>
                          <a:solidFill>
                            <a:schemeClr val="tx1"/>
                          </a:solidFill>
                          <a:prstDash val="dash"/>
                        </a:ln>
                      </a:endParaRPr>
                    </a:p>
                  </a:txBody>
                  <a:tcPr>
                    <a:lnL w="1270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576">
                <a:tc>
                  <a:txBody>
                    <a:bodyPr/>
                    <a:lstStyle/>
                    <a:p>
                      <a:pPr algn="ctr"/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</a:rPr>
                        <a:t>mAP50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</a:rPr>
                        <a:t>0.637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</a:rPr>
                        <a:t>mAP50 - 95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</a:rPr>
                        <a:t>0.593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8998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</a:rPr>
                        <a:t>Precision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</a:rPr>
                        <a:t>0.610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1901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</a:rPr>
                        <a:t>Recall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</a:rPr>
                        <a:t>0.599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1901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</a:rPr>
                        <a:t>Box Loss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</a:rPr>
                        <a:t>~68%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1901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</a:rPr>
                        <a:t>Label rate vs YOLOv8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cap="none" spc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</a:rPr>
                        <a:t>+29.5%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11205939"/>
                  </a:ext>
                </a:extLst>
              </a:tr>
            </a:tbl>
          </a:graphicData>
        </a:graphic>
      </p:graphicFrame>
      <p:cxnSp>
        <p:nvCxnSpPr>
          <p:cNvPr id="34" name="Horizontal Section Divider" descr="Horizontal Divider"/>
          <p:cNvCxnSpPr/>
          <p:nvPr/>
        </p:nvCxnSpPr>
        <p:spPr bwMode="auto">
          <a:xfrm>
            <a:off x="22442212" y="14667622"/>
            <a:ext cx="9784080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37" name="Results Textbox"/>
          <p:cNvSpPr txBox="1"/>
          <p:nvPr/>
        </p:nvSpPr>
        <p:spPr>
          <a:xfrm>
            <a:off x="22257549" y="14910307"/>
            <a:ext cx="10130891" cy="11792972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pPr>
              <a:lnSpc>
                <a:spcPts val="4600"/>
              </a:lnSpc>
              <a:spcAft>
                <a:spcPts val="1200"/>
              </a:spcAft>
              <a:defRPr/>
            </a:pPr>
            <a:r>
              <a:rPr lang="en-US" sz="4800" b="1" dirty="0">
                <a:solidFill>
                  <a:srgbClr val="005BBB"/>
                </a:solidFill>
              </a:rPr>
              <a:t>Results</a:t>
            </a:r>
          </a:p>
          <a:p>
            <a:r>
              <a:rPr lang="en-US" sz="4000" b="1" dirty="0">
                <a:solidFill>
                  <a:srgbClr val="1B4332"/>
                </a:solidFill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4000" dirty="0"/>
          </a:p>
          <a:p>
            <a:r>
              <a:rPr lang="en-US" sz="32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• First fine-tune of </a:t>
            </a:r>
            <a:r>
              <a:rPr lang="en-US" sz="3200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MegaDetector</a:t>
            </a:r>
            <a:r>
              <a:rPr lang="en-US" sz="32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for species-level detection (3 to 500 classes)</a:t>
            </a:r>
            <a:endParaRPr lang="en-US" sz="4000" dirty="0"/>
          </a:p>
          <a:p>
            <a:r>
              <a:rPr lang="en-US" sz="32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• 94.5% auto-label rate vs 65% with COCO-trained YOLO on wildlife images</a:t>
            </a:r>
            <a:endParaRPr lang="en-US" sz="4000" dirty="0"/>
          </a:p>
          <a:p>
            <a:r>
              <a:rPr lang="en-US" sz="32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• mAP50 of 0.637 across 500 species trained on 100K image dataset</a:t>
            </a:r>
            <a:endParaRPr lang="en-US" sz="4000" dirty="0"/>
          </a:p>
          <a:p>
            <a:r>
              <a:rPr lang="en-US" sz="32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• End-to-end live stream detection pipeline with IUCN enrichment</a:t>
            </a:r>
          </a:p>
          <a:p>
            <a:endParaRPr lang="en-US" sz="4000" dirty="0"/>
          </a:p>
          <a:p>
            <a:r>
              <a:rPr lang="en-US" sz="4000" b="1" dirty="0">
                <a:solidFill>
                  <a:srgbClr val="1B4332"/>
                </a:solidFill>
                <a:ea typeface="Calibri" pitchFamily="34" charset="-122"/>
                <a:cs typeface="Calibri" pitchFamily="34" charset="-120"/>
              </a:rPr>
              <a:t>Limitations</a:t>
            </a:r>
            <a:endParaRPr lang="en-US" sz="4000" dirty="0"/>
          </a:p>
          <a:p>
            <a:r>
              <a:rPr lang="en-US" sz="32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• Visually similar species confused (leopard/jaguar)</a:t>
            </a:r>
            <a:endParaRPr lang="en-US" sz="4000" dirty="0"/>
          </a:p>
          <a:p>
            <a:r>
              <a:rPr lang="en-US" sz="32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• Context-dependent errors (oxpecker learned from host animals)</a:t>
            </a:r>
            <a:endParaRPr lang="en-US" sz="4000" dirty="0"/>
          </a:p>
          <a:p>
            <a:r>
              <a:rPr lang="en-US" sz="32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• ~110 images/species on average — more data would help</a:t>
            </a:r>
          </a:p>
          <a:p>
            <a:endParaRPr lang="en-US" sz="4000" dirty="0"/>
          </a:p>
          <a:p>
            <a:r>
              <a:rPr lang="en-US" sz="4000" b="1" dirty="0">
                <a:solidFill>
                  <a:srgbClr val="1B4332"/>
                </a:solidFill>
                <a:ea typeface="Calibri" pitchFamily="34" charset="-122"/>
                <a:cs typeface="Calibri" pitchFamily="34" charset="-120"/>
              </a:rPr>
              <a:t>Future Work</a:t>
            </a:r>
            <a:endParaRPr lang="en-US" sz="4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Expand to 2,000+ species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Lightweight YOLOv8n variant for edge deployment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SpeciesNet</a:t>
            </a:r>
            <a:r>
              <a:rPr lang="en-US" sz="32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benchmark comparison </a:t>
            </a:r>
            <a:endParaRPr lang="en-US" sz="4000" dirty="0"/>
          </a:p>
        </p:txBody>
      </p:sp>
      <p:sp>
        <p:nvSpPr>
          <p:cNvPr id="35" name="TextBox for Chart E"/>
          <p:cNvSpPr txBox="1"/>
          <p:nvPr/>
        </p:nvSpPr>
        <p:spPr>
          <a:xfrm>
            <a:off x="22396492" y="26703279"/>
            <a:ext cx="9829800" cy="3577711"/>
          </a:xfrm>
          <a:prstGeom prst="rect">
            <a:avLst/>
          </a:prstGeom>
          <a:solidFill>
            <a:schemeClr val="bg1">
              <a:alpha val="42000"/>
            </a:schemeClr>
          </a:solidFill>
        </p:spPr>
        <p:txBody>
          <a:bodyPr>
            <a:spAutoFit/>
          </a:bodyPr>
          <a:lstStyle/>
          <a:p>
            <a:pPr>
              <a:lnSpc>
                <a:spcPts val="4600"/>
              </a:lnSpc>
              <a:spcBef>
                <a:spcPts val="0"/>
              </a:spcBef>
              <a:defRPr/>
            </a:pPr>
            <a:r>
              <a:rPr lang="en-US" sz="3200" b="1" dirty="0">
                <a:solidFill>
                  <a:srgbClr val="080808"/>
                </a:solidFill>
              </a:rPr>
              <a:t>Why </a:t>
            </a:r>
            <a:r>
              <a:rPr lang="en-US" sz="3200" b="1" dirty="0" err="1">
                <a:solidFill>
                  <a:srgbClr val="080808"/>
                </a:solidFill>
              </a:rPr>
              <a:t>MegaDetector</a:t>
            </a:r>
            <a:r>
              <a:rPr lang="en-US" sz="3200" b="1" dirty="0">
                <a:solidFill>
                  <a:srgbClr val="080808"/>
                </a:solidFill>
              </a:rPr>
              <a:t> over YOLO?</a:t>
            </a:r>
            <a:r>
              <a:rPr lang="en-US" sz="3200" dirty="0">
                <a:solidFill>
                  <a:srgbClr val="080808"/>
                </a:solidFill>
              </a:rPr>
              <a:t> </a:t>
            </a:r>
            <a:r>
              <a:rPr lang="en-US" sz="3200" dirty="0" err="1">
                <a:solidFill>
                  <a:srgbClr val="080808"/>
                </a:solidFill>
              </a:rPr>
              <a:t>MegaDetector</a:t>
            </a:r>
            <a:r>
              <a:rPr lang="en-US" sz="3200" dirty="0">
                <a:solidFill>
                  <a:srgbClr val="080808"/>
                </a:solidFill>
              </a:rPr>
              <a:t> was pretrained on 4.5M wildlife camera trap images. COCO-trained YOLO struggles with camouflaged animals, unusual angles, and rare species. Fine-tuning </a:t>
            </a:r>
            <a:r>
              <a:rPr lang="en-US" sz="3200" dirty="0" err="1">
                <a:solidFill>
                  <a:srgbClr val="080808"/>
                </a:solidFill>
              </a:rPr>
              <a:t>MegaDetector</a:t>
            </a:r>
            <a:r>
              <a:rPr lang="en-US" sz="3200" dirty="0">
                <a:solidFill>
                  <a:srgbClr val="080808"/>
                </a:solidFill>
              </a:rPr>
              <a:t> gave us a 94.5% auto-label rate vs 65% with YOLOv8 on the same images</a:t>
            </a:r>
            <a:endParaRPr lang="en-US" sz="2800" dirty="0">
              <a:solidFill>
                <a:srgbClr val="080808"/>
              </a:solidFill>
              <a:ea typeface="Arial" charset="0"/>
              <a:cs typeface="Arial" charset="0"/>
            </a:endParaRPr>
          </a:p>
        </p:txBody>
      </p:sp>
      <p:sp>
        <p:nvSpPr>
          <p:cNvPr id="40" name="Conclusion Analysis Textbox"/>
          <p:cNvSpPr txBox="1"/>
          <p:nvPr/>
        </p:nvSpPr>
        <p:spPr>
          <a:xfrm>
            <a:off x="33146442" y="6932975"/>
            <a:ext cx="10084901" cy="7131119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pPr>
              <a:lnSpc>
                <a:spcPts val="4600"/>
              </a:lnSpc>
              <a:spcAft>
                <a:spcPts val="1200"/>
              </a:spcAft>
              <a:defRPr/>
            </a:pPr>
            <a:r>
              <a:rPr lang="en-US" sz="4800" b="1" dirty="0">
                <a:solidFill>
                  <a:srgbClr val="005BBB"/>
                </a:solidFill>
              </a:rPr>
              <a:t>Applications</a:t>
            </a:r>
          </a:p>
          <a:p>
            <a:pPr>
              <a:lnSpc>
                <a:spcPts val="4600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en-US" sz="2800" dirty="0">
                <a:solidFill>
                  <a:srgbClr val="080808"/>
                </a:solidFill>
                <a:ea typeface="Arial" charset="0"/>
                <a:cs typeface="Arial" charset="0"/>
              </a:rPr>
              <a:t>With future improvements in accuracy through deeper training and stronger data collection strategies, the project shows promise for the following:</a:t>
            </a:r>
          </a:p>
          <a:p>
            <a:pPr marL="914400" lvl="1" indent="-457200">
              <a:lnSpc>
                <a:spcPts val="46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Pct val="125000"/>
              <a:buFont typeface="Arial" charset="0"/>
              <a:buChar char="•"/>
              <a:defRPr/>
            </a:pPr>
            <a:r>
              <a:rPr lang="en-US" sz="2800" b="1" dirty="0">
                <a:solidFill>
                  <a:srgbClr val="080808"/>
                </a:solidFill>
                <a:ea typeface="Arial" charset="0"/>
                <a:cs typeface="Arial" charset="0"/>
              </a:rPr>
              <a:t>Camera Trap Feed Detection: </a:t>
            </a:r>
            <a:r>
              <a:rPr lang="en-US" sz="2800" dirty="0">
                <a:solidFill>
                  <a:srgbClr val="080808"/>
                </a:solidFill>
                <a:ea typeface="Arial" charset="0"/>
                <a:cs typeface="Arial" charset="0"/>
              </a:rPr>
              <a:t>Automating Camera Trap Feed analysis and live identification </a:t>
            </a:r>
          </a:p>
          <a:p>
            <a:pPr marL="914400" lvl="1" indent="-457200">
              <a:lnSpc>
                <a:spcPts val="46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Pct val="125000"/>
              <a:buFont typeface="Arial" charset="0"/>
              <a:buChar char="•"/>
              <a:defRPr/>
            </a:pPr>
            <a:r>
              <a:rPr lang="en-US" sz="2800" b="1" dirty="0">
                <a:solidFill>
                  <a:srgbClr val="080808"/>
                </a:solidFill>
                <a:ea typeface="Arial" charset="0"/>
                <a:cs typeface="Arial" charset="0"/>
              </a:rPr>
              <a:t>Visual Education: </a:t>
            </a:r>
            <a:r>
              <a:rPr lang="en-US" sz="2800" dirty="0">
                <a:solidFill>
                  <a:srgbClr val="080808"/>
                </a:solidFill>
                <a:ea typeface="Arial" charset="0"/>
                <a:cs typeface="Arial" charset="0"/>
              </a:rPr>
              <a:t>This model can be deployed on videos used in education of species and scientific names </a:t>
            </a:r>
          </a:p>
          <a:p>
            <a:pPr marL="914400" lvl="1" indent="-457200">
              <a:lnSpc>
                <a:spcPts val="46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Pct val="125000"/>
              <a:buFont typeface="Arial" charset="0"/>
              <a:buChar char="•"/>
              <a:defRPr/>
            </a:pPr>
            <a:r>
              <a:rPr lang="en-US" sz="2800" b="1" dirty="0">
                <a:solidFill>
                  <a:srgbClr val="080808"/>
                </a:solidFill>
                <a:ea typeface="Arial" charset="0"/>
                <a:cs typeface="Arial" charset="0"/>
              </a:rPr>
              <a:t>Drone Feed Detection: </a:t>
            </a:r>
            <a:r>
              <a:rPr lang="en-US" sz="2800" dirty="0">
                <a:solidFill>
                  <a:srgbClr val="080808"/>
                </a:solidFill>
                <a:ea typeface="Arial" charset="0"/>
                <a:cs typeface="Arial" charset="0"/>
              </a:rPr>
              <a:t>Drone are often employed in animal detection. On-board hard-wired AI can be used for live feed detection</a:t>
            </a:r>
          </a:p>
        </p:txBody>
      </p:sp>
      <p:cxnSp>
        <p:nvCxnSpPr>
          <p:cNvPr id="41" name="Horizontal Section Divider" descr="Horizontal Divider"/>
          <p:cNvCxnSpPr/>
          <p:nvPr/>
        </p:nvCxnSpPr>
        <p:spPr bwMode="auto">
          <a:xfrm>
            <a:off x="33193568" y="14197627"/>
            <a:ext cx="9784080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38" name="Horizontal Section Divider" descr="Horizontal Divider"/>
          <p:cNvCxnSpPr/>
          <p:nvPr/>
        </p:nvCxnSpPr>
        <p:spPr bwMode="auto">
          <a:xfrm>
            <a:off x="33147000" y="23033909"/>
            <a:ext cx="9784080" cy="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References Textbox"/>
          <p:cNvSpPr txBox="1"/>
          <p:nvPr/>
        </p:nvSpPr>
        <p:spPr>
          <a:xfrm>
            <a:off x="33134314" y="23960092"/>
            <a:ext cx="9737512" cy="3605602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pPr>
              <a:lnSpc>
                <a:spcPts val="3800"/>
              </a:lnSpc>
              <a:spcAft>
                <a:spcPts val="1200"/>
              </a:spcAft>
              <a:buClr>
                <a:schemeClr val="tx2"/>
              </a:buClr>
              <a:defRPr/>
            </a:pPr>
            <a:r>
              <a:rPr lang="en-US" sz="4800" b="1" dirty="0">
                <a:solidFill>
                  <a:srgbClr val="005BBB"/>
                </a:solidFill>
              </a:rPr>
              <a:t>References</a:t>
            </a:r>
            <a:endParaRPr lang="en-US" sz="2400" dirty="0">
              <a:ea typeface="Arial" charset="0"/>
              <a:cs typeface="Arial" charset="0"/>
            </a:endParaRPr>
          </a:p>
          <a:p>
            <a:pPr>
              <a:lnSpc>
                <a:spcPts val="3800"/>
              </a:lnSpc>
              <a:spcBef>
                <a:spcPts val="0"/>
              </a:spcBef>
              <a:buClr>
                <a:schemeClr val="tx2"/>
              </a:buClr>
              <a:buFont typeface="+mj-lt"/>
              <a:buAutoNum type="arabicPeriod"/>
              <a:defRPr/>
            </a:pPr>
            <a:r>
              <a:rPr lang="en-US" sz="2400" dirty="0">
                <a:ea typeface="Arial" charset="0"/>
                <a:cs typeface="Arial" charset="0"/>
              </a:rPr>
              <a:t>  Google </a:t>
            </a:r>
            <a:r>
              <a:rPr lang="en-US" sz="2400" dirty="0" err="1">
                <a:ea typeface="Arial" charset="0"/>
                <a:cs typeface="Arial" charset="0"/>
              </a:rPr>
              <a:t>SpeciesNet</a:t>
            </a:r>
            <a:r>
              <a:rPr lang="en-US" sz="2400" dirty="0">
                <a:ea typeface="Arial" charset="0"/>
                <a:cs typeface="Arial" charset="0"/>
              </a:rPr>
              <a:t>: Visual Intelligence in species </a:t>
            </a:r>
            <a:r>
              <a:rPr lang="en-US" sz="2400" dirty="0" err="1">
                <a:ea typeface="Arial" charset="0"/>
                <a:cs typeface="Arial" charset="0"/>
              </a:rPr>
              <a:t>identication</a:t>
            </a:r>
            <a:r>
              <a:rPr lang="en-US" sz="2400" dirty="0">
                <a:ea typeface="Arial" charset="0"/>
                <a:cs typeface="Arial" charset="0"/>
              </a:rPr>
              <a:t> </a:t>
            </a:r>
          </a:p>
          <a:p>
            <a:pPr>
              <a:lnSpc>
                <a:spcPts val="3800"/>
              </a:lnSpc>
              <a:spcBef>
                <a:spcPts val="0"/>
              </a:spcBef>
              <a:buClr>
                <a:schemeClr val="tx2"/>
              </a:buClr>
              <a:buFont typeface="+mj-lt"/>
              <a:buAutoNum type="arabicPeriod"/>
              <a:defRPr/>
            </a:pPr>
            <a:r>
              <a:rPr lang="en-US" sz="2400" dirty="0">
                <a:ea typeface="Arial" charset="0"/>
                <a:cs typeface="Arial" charset="0"/>
              </a:rPr>
              <a:t>  Microsoft </a:t>
            </a:r>
            <a:r>
              <a:rPr lang="en-US" sz="2400" dirty="0" err="1">
                <a:ea typeface="Arial" charset="0"/>
                <a:cs typeface="Arial" charset="0"/>
              </a:rPr>
              <a:t>MegaDetector</a:t>
            </a:r>
            <a:r>
              <a:rPr lang="en-US" sz="2400" dirty="0">
                <a:ea typeface="Arial" charset="0"/>
                <a:cs typeface="Arial" charset="0"/>
              </a:rPr>
              <a:t> YOLOv5</a:t>
            </a:r>
          </a:p>
          <a:p>
            <a:pPr>
              <a:lnSpc>
                <a:spcPts val="3800"/>
              </a:lnSpc>
              <a:spcBef>
                <a:spcPts val="0"/>
              </a:spcBef>
              <a:buClr>
                <a:schemeClr val="tx2"/>
              </a:buClr>
              <a:buFont typeface="+mj-lt"/>
              <a:buAutoNum type="arabicPeriod"/>
              <a:defRPr/>
            </a:pPr>
            <a:r>
              <a:rPr lang="en-US" sz="2400" dirty="0">
                <a:ea typeface="Arial" charset="0"/>
                <a:cs typeface="Arial" charset="0"/>
              </a:rPr>
              <a:t>  YOLOv8n for object detection</a:t>
            </a:r>
          </a:p>
          <a:p>
            <a:pPr>
              <a:lnSpc>
                <a:spcPts val="3800"/>
              </a:lnSpc>
              <a:spcBef>
                <a:spcPts val="0"/>
              </a:spcBef>
              <a:buClr>
                <a:schemeClr val="tx2"/>
              </a:buClr>
              <a:buFont typeface="+mj-lt"/>
              <a:buAutoNum type="arabicPeriod"/>
              <a:defRPr/>
            </a:pPr>
            <a:r>
              <a:rPr lang="en-US" sz="2400" dirty="0">
                <a:ea typeface="Arial" charset="0"/>
                <a:cs typeface="Arial" charset="0"/>
              </a:rPr>
              <a:t>  </a:t>
            </a:r>
            <a:r>
              <a:rPr lang="en-US" sz="2400" dirty="0" err="1">
                <a:ea typeface="Arial" charset="0"/>
                <a:cs typeface="Arial" charset="0"/>
              </a:rPr>
              <a:t>Inaturalist</a:t>
            </a:r>
            <a:r>
              <a:rPr lang="en-US" sz="2400" dirty="0">
                <a:ea typeface="Arial" charset="0"/>
                <a:cs typeface="Arial" charset="0"/>
              </a:rPr>
              <a:t> Species Observation</a:t>
            </a:r>
          </a:p>
          <a:p>
            <a:pPr>
              <a:lnSpc>
                <a:spcPts val="3800"/>
              </a:lnSpc>
              <a:spcBef>
                <a:spcPts val="0"/>
              </a:spcBef>
              <a:buClr>
                <a:schemeClr val="tx2"/>
              </a:buClr>
              <a:buFont typeface="+mj-lt"/>
              <a:buAutoNum type="arabicPeriod"/>
              <a:defRPr/>
            </a:pPr>
            <a:r>
              <a:rPr lang="en-US" sz="2400" dirty="0">
                <a:ea typeface="Arial" charset="0"/>
                <a:cs typeface="Arial" charset="0"/>
              </a:rPr>
              <a:t>  BBC Earth and National Geographic </a:t>
            </a:r>
            <a:r>
              <a:rPr lang="en-US" sz="2400" dirty="0" err="1">
                <a:ea typeface="Arial" charset="0"/>
                <a:cs typeface="Arial" charset="0"/>
              </a:rPr>
              <a:t>youtube</a:t>
            </a:r>
            <a:r>
              <a:rPr lang="en-US" sz="2400" dirty="0">
                <a:ea typeface="Arial" charset="0"/>
                <a:cs typeface="Arial" charset="0"/>
              </a:rPr>
              <a:t> streams</a:t>
            </a:r>
          </a:p>
          <a:p>
            <a:pPr>
              <a:lnSpc>
                <a:spcPts val="3800"/>
              </a:lnSpc>
              <a:spcBef>
                <a:spcPts val="0"/>
              </a:spcBef>
              <a:buClr>
                <a:schemeClr val="tx2"/>
              </a:buClr>
              <a:buFont typeface="+mj-lt"/>
              <a:buAutoNum type="arabicPeriod"/>
              <a:defRPr/>
            </a:pPr>
            <a:r>
              <a:rPr lang="en-US" sz="2400" dirty="0">
                <a:ea typeface="Arial" charset="0"/>
                <a:cs typeface="Arial" charset="0"/>
              </a:rPr>
              <a:t> </a:t>
            </a:r>
            <a:r>
              <a:rPr lang="en-US" sz="2400" dirty="0" err="1">
                <a:ea typeface="Arial" charset="0"/>
                <a:cs typeface="Arial" charset="0"/>
              </a:rPr>
              <a:t>Albumentations</a:t>
            </a:r>
            <a:r>
              <a:rPr lang="en-US" sz="2400" dirty="0">
                <a:ea typeface="Arial" charset="0"/>
                <a:cs typeface="Arial" charset="0"/>
              </a:rPr>
              <a:t>: Data Augmentation</a:t>
            </a:r>
          </a:p>
        </p:txBody>
      </p:sp>
      <p:sp>
        <p:nvSpPr>
          <p:cNvPr id="94" name="Contact Information Textbox"/>
          <p:cNvSpPr/>
          <p:nvPr/>
        </p:nvSpPr>
        <p:spPr>
          <a:xfrm>
            <a:off x="33196429" y="30840633"/>
            <a:ext cx="9780371" cy="14961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  <a:defRPr/>
            </a:pPr>
            <a:r>
              <a:rPr lang="en-US" altLang="en-US" sz="2800" dirty="0">
                <a:solidFill>
                  <a:schemeClr val="bg1"/>
                </a:solidFill>
                <a:ea typeface="Arial" charset="0"/>
              </a:rPr>
              <a:t>School of Engineering and Applied Sciences </a:t>
            </a:r>
            <a:br>
              <a:rPr lang="en-US" altLang="en-US" sz="2800" dirty="0">
                <a:solidFill>
                  <a:schemeClr val="bg1"/>
                </a:solidFill>
                <a:ea typeface="Arial" charset="0"/>
              </a:rPr>
            </a:br>
            <a:r>
              <a:rPr lang="en-US" altLang="en-US" sz="2800" dirty="0">
                <a:solidFill>
                  <a:schemeClr val="bg1"/>
                </a:solidFill>
                <a:ea typeface="Arial" charset="0"/>
              </a:rPr>
              <a:t>University at Buffalo, The State University of New York</a:t>
            </a:r>
          </a:p>
          <a:p>
            <a:pPr>
              <a:spcAft>
                <a:spcPts val="80"/>
              </a:spcAft>
              <a:defRPr/>
            </a:pPr>
            <a:r>
              <a:rPr lang="en-US" sz="3400" b="1" dirty="0">
                <a:solidFill>
                  <a:schemeClr val="bg1"/>
                </a:solidFill>
              </a:rPr>
              <a:t>buffalo.edu</a:t>
            </a:r>
          </a:p>
          <a:p>
            <a:pPr>
              <a:spcAft>
                <a:spcPts val="80"/>
              </a:spcAft>
              <a:defRPr/>
            </a:pPr>
            <a:endParaRPr lang="en-US" altLang="en-US" sz="2800" dirty="0">
              <a:solidFill>
                <a:schemeClr val="bg1"/>
              </a:solidFill>
              <a:ea typeface="Arial" charset="0"/>
            </a:endParaRPr>
          </a:p>
        </p:txBody>
      </p:sp>
      <p:sp>
        <p:nvSpPr>
          <p:cNvPr id="4" name="Text 43">
            <a:extLst>
              <a:ext uri="{FF2B5EF4-FFF2-40B4-BE49-F238E27FC236}">
                <a16:creationId xmlns:a16="http://schemas.microsoft.com/office/drawing/2014/main" id="{DC079DDF-4911-8702-3935-364831417162}"/>
              </a:ext>
            </a:extLst>
          </p:cNvPr>
          <p:cNvSpPr/>
          <p:nvPr/>
        </p:nvSpPr>
        <p:spPr>
          <a:xfrm>
            <a:off x="13767069" y="8078872"/>
            <a:ext cx="332766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80808"/>
                </a:solidFill>
                <a:ea typeface="Calibri" pitchFamily="34" charset="-122"/>
                <a:cs typeface="Calibri" pitchFamily="34" charset="-120"/>
              </a:rPr>
              <a:t>iNaturalist API</a:t>
            </a:r>
            <a:endParaRPr lang="en-US" sz="2800" dirty="0">
              <a:solidFill>
                <a:srgbClr val="080808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80808"/>
                </a:solidFill>
                <a:ea typeface="Calibri" pitchFamily="34" charset="-122"/>
                <a:cs typeface="Calibri" pitchFamily="34" charset="-120"/>
              </a:rPr>
              <a:t>500 vertebrate species</a:t>
            </a:r>
            <a:endParaRPr lang="en-US" sz="2800" dirty="0">
              <a:solidFill>
                <a:srgbClr val="080808"/>
              </a:solidFill>
            </a:endParaRPr>
          </a:p>
        </p:txBody>
      </p:sp>
      <p:sp>
        <p:nvSpPr>
          <p:cNvPr id="5" name="Shape 40">
            <a:extLst>
              <a:ext uri="{FF2B5EF4-FFF2-40B4-BE49-F238E27FC236}">
                <a16:creationId xmlns:a16="http://schemas.microsoft.com/office/drawing/2014/main" id="{E6B0AA92-2E64-0BA4-1EA6-30F041B72948}"/>
              </a:ext>
            </a:extLst>
          </p:cNvPr>
          <p:cNvSpPr/>
          <p:nvPr/>
        </p:nvSpPr>
        <p:spPr>
          <a:xfrm>
            <a:off x="11658599" y="7888341"/>
            <a:ext cx="1862847" cy="170312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1">
            <a:extLst>
              <a:ext uri="{FF2B5EF4-FFF2-40B4-BE49-F238E27FC236}">
                <a16:creationId xmlns:a16="http://schemas.microsoft.com/office/drawing/2014/main" id="{4ABFA17E-5F4B-6313-04D3-6503E4771CB2}"/>
              </a:ext>
            </a:extLst>
          </p:cNvPr>
          <p:cNvSpPr/>
          <p:nvPr/>
        </p:nvSpPr>
        <p:spPr>
          <a:xfrm>
            <a:off x="11904222" y="803142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42">
            <a:extLst>
              <a:ext uri="{FF2B5EF4-FFF2-40B4-BE49-F238E27FC236}">
                <a16:creationId xmlns:a16="http://schemas.microsoft.com/office/drawing/2014/main" id="{838EFAFE-D048-F4C1-9E11-1DF863A2A76D}"/>
              </a:ext>
            </a:extLst>
          </p:cNvPr>
          <p:cNvSpPr/>
          <p:nvPr/>
        </p:nvSpPr>
        <p:spPr>
          <a:xfrm>
            <a:off x="13715194" y="7797250"/>
            <a:ext cx="69434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Data Collection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052F72-83E2-50B7-5905-840CCF4F950C}"/>
              </a:ext>
            </a:extLst>
          </p:cNvPr>
          <p:cNvSpPr txBox="1"/>
          <p:nvPr/>
        </p:nvSpPr>
        <p:spPr>
          <a:xfrm>
            <a:off x="16951593" y="8008762"/>
            <a:ext cx="508825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54,866 research-grade images</a:t>
            </a:r>
            <a:endParaRPr lang="en-US" sz="2800" dirty="0"/>
          </a:p>
          <a:p>
            <a:r>
              <a:rPr lang="en-US" sz="28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Mammalia · Aves · Reptilia</a:t>
            </a:r>
            <a:endParaRPr lang="en-US" sz="2800" dirty="0"/>
          </a:p>
          <a:p>
            <a:r>
              <a:rPr lang="en-US" sz="28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Amphibia · Actinopterygii</a:t>
            </a:r>
            <a:endParaRPr lang="en-US" sz="2800" dirty="0"/>
          </a:p>
          <a:p>
            <a:endParaRPr lang="en-IN" sz="2400" dirty="0"/>
          </a:p>
        </p:txBody>
      </p:sp>
      <p:sp>
        <p:nvSpPr>
          <p:cNvPr id="14" name="Shape 40">
            <a:extLst>
              <a:ext uri="{FF2B5EF4-FFF2-40B4-BE49-F238E27FC236}">
                <a16:creationId xmlns:a16="http://schemas.microsoft.com/office/drawing/2014/main" id="{D79107C2-5893-A7EA-E09F-6A1B68D5597D}"/>
              </a:ext>
            </a:extLst>
          </p:cNvPr>
          <p:cNvSpPr/>
          <p:nvPr/>
        </p:nvSpPr>
        <p:spPr>
          <a:xfrm>
            <a:off x="11658600" y="10455667"/>
            <a:ext cx="1862847" cy="1703125"/>
          </a:xfrm>
          <a:prstGeom prst="rect">
            <a:avLst/>
          </a:prstGeom>
          <a:solidFill>
            <a:srgbClr val="0070C0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41">
            <a:extLst>
              <a:ext uri="{FF2B5EF4-FFF2-40B4-BE49-F238E27FC236}">
                <a16:creationId xmlns:a16="http://schemas.microsoft.com/office/drawing/2014/main" id="{5EE25ED1-C170-D17F-06ED-50635FE458F3}"/>
              </a:ext>
            </a:extLst>
          </p:cNvPr>
          <p:cNvSpPr/>
          <p:nvPr/>
        </p:nvSpPr>
        <p:spPr>
          <a:xfrm>
            <a:off x="11904222" y="1057638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02</a:t>
            </a:r>
          </a:p>
        </p:txBody>
      </p:sp>
      <p:sp>
        <p:nvSpPr>
          <p:cNvPr id="20" name="Text 42">
            <a:extLst>
              <a:ext uri="{FF2B5EF4-FFF2-40B4-BE49-F238E27FC236}">
                <a16:creationId xmlns:a16="http://schemas.microsoft.com/office/drawing/2014/main" id="{AF031B6D-7B8F-BE54-D5A4-5ABB84D43205}"/>
              </a:ext>
            </a:extLst>
          </p:cNvPr>
          <p:cNvSpPr/>
          <p:nvPr/>
        </p:nvSpPr>
        <p:spPr>
          <a:xfrm>
            <a:off x="13749974" y="10304235"/>
            <a:ext cx="69434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Auto-Labelling</a:t>
            </a:r>
            <a:endParaRPr lang="en-US" sz="3200" dirty="0"/>
          </a:p>
        </p:txBody>
      </p:sp>
      <p:sp>
        <p:nvSpPr>
          <p:cNvPr id="21" name="Text 43">
            <a:extLst>
              <a:ext uri="{FF2B5EF4-FFF2-40B4-BE49-F238E27FC236}">
                <a16:creationId xmlns:a16="http://schemas.microsoft.com/office/drawing/2014/main" id="{72B018AA-61A6-1736-CA0C-65DBAF7D6011}"/>
              </a:ext>
            </a:extLst>
          </p:cNvPr>
          <p:cNvSpPr/>
          <p:nvPr/>
        </p:nvSpPr>
        <p:spPr>
          <a:xfrm>
            <a:off x="13749934" y="11421290"/>
            <a:ext cx="347177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 err="1">
                <a:solidFill>
                  <a:srgbClr val="080808"/>
                </a:solidFill>
                <a:ea typeface="Calibri" pitchFamily="34" charset="-122"/>
                <a:cs typeface="Calibri" pitchFamily="34" charset="-120"/>
              </a:rPr>
              <a:t>i</a:t>
            </a:r>
            <a:r>
              <a:rPr lang="en-US" sz="2800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MegaDetector</a:t>
            </a:r>
            <a:r>
              <a:rPr lang="en-US" sz="28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v5a </a:t>
            </a:r>
            <a:endParaRPr lang="en-US" sz="2800" dirty="0"/>
          </a:p>
          <a:p>
            <a:r>
              <a:rPr lang="en-US" sz="28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51,603 </a:t>
            </a:r>
            <a:r>
              <a:rPr lang="en-US" sz="2800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bbox</a:t>
            </a:r>
            <a:r>
              <a:rPr lang="en-US" sz="28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labels (94.5%)</a:t>
            </a:r>
          </a:p>
          <a:p>
            <a:r>
              <a:rPr lang="en-US" sz="28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vs 36,544 with YOLOv8 (65%)</a:t>
            </a:r>
            <a:endParaRPr lang="en-US" sz="28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>
              <a:solidFill>
                <a:srgbClr val="080808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A1A33B-1F16-4F62-186A-A3CE2B2151F4}"/>
              </a:ext>
            </a:extLst>
          </p:cNvPr>
          <p:cNvSpPr txBox="1"/>
          <p:nvPr/>
        </p:nvSpPr>
        <p:spPr>
          <a:xfrm>
            <a:off x="17405767" y="10797764"/>
            <a:ext cx="3223959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  <a:p>
            <a:r>
              <a:rPr lang="en-US" sz="28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Conf threshold: 0.3</a:t>
            </a:r>
            <a:endParaRPr lang="en-US" sz="2800" dirty="0"/>
          </a:p>
          <a:p>
            <a:endParaRPr lang="en-IN" sz="2400" dirty="0"/>
          </a:p>
        </p:txBody>
      </p:sp>
      <p:sp>
        <p:nvSpPr>
          <p:cNvPr id="24" name="Shape 40">
            <a:extLst>
              <a:ext uri="{FF2B5EF4-FFF2-40B4-BE49-F238E27FC236}">
                <a16:creationId xmlns:a16="http://schemas.microsoft.com/office/drawing/2014/main" id="{267AC8A0-008F-74F4-48B0-409BC13BCB04}"/>
              </a:ext>
            </a:extLst>
          </p:cNvPr>
          <p:cNvSpPr/>
          <p:nvPr/>
        </p:nvSpPr>
        <p:spPr>
          <a:xfrm>
            <a:off x="11658598" y="13207182"/>
            <a:ext cx="1862847" cy="17031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41">
            <a:extLst>
              <a:ext uri="{FF2B5EF4-FFF2-40B4-BE49-F238E27FC236}">
                <a16:creationId xmlns:a16="http://schemas.microsoft.com/office/drawing/2014/main" id="{75E17301-4987-F5C5-8496-7FF718052928}"/>
              </a:ext>
            </a:extLst>
          </p:cNvPr>
          <p:cNvSpPr/>
          <p:nvPr/>
        </p:nvSpPr>
        <p:spPr>
          <a:xfrm>
            <a:off x="11904222" y="1332178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03</a:t>
            </a:r>
          </a:p>
        </p:txBody>
      </p:sp>
      <p:sp>
        <p:nvSpPr>
          <p:cNvPr id="42" name="Text 42">
            <a:extLst>
              <a:ext uri="{FF2B5EF4-FFF2-40B4-BE49-F238E27FC236}">
                <a16:creationId xmlns:a16="http://schemas.microsoft.com/office/drawing/2014/main" id="{935B366C-2935-B767-0CAD-690980D117D8}"/>
              </a:ext>
            </a:extLst>
          </p:cNvPr>
          <p:cNvSpPr/>
          <p:nvPr/>
        </p:nvSpPr>
        <p:spPr>
          <a:xfrm>
            <a:off x="13767109" y="13170382"/>
            <a:ext cx="69434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Augmentation</a:t>
            </a:r>
            <a:endParaRPr lang="en-US" sz="3200" dirty="0"/>
          </a:p>
        </p:txBody>
      </p:sp>
      <p:sp>
        <p:nvSpPr>
          <p:cNvPr id="43" name="Text 43">
            <a:extLst>
              <a:ext uri="{FF2B5EF4-FFF2-40B4-BE49-F238E27FC236}">
                <a16:creationId xmlns:a16="http://schemas.microsoft.com/office/drawing/2014/main" id="{2AD01878-C7C3-5E46-7C7E-39FBAFCBBEDF}"/>
              </a:ext>
            </a:extLst>
          </p:cNvPr>
          <p:cNvSpPr/>
          <p:nvPr/>
        </p:nvSpPr>
        <p:spPr>
          <a:xfrm>
            <a:off x="13715153" y="14002517"/>
            <a:ext cx="3596791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Albumentations</a:t>
            </a:r>
            <a:r>
              <a:rPr lang="en-US" sz="28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 library</a:t>
            </a:r>
            <a:endParaRPr lang="en-US" sz="2800" dirty="0"/>
          </a:p>
          <a:p>
            <a:r>
              <a:rPr lang="en-US" sz="2800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Bbox</a:t>
            </a:r>
            <a:r>
              <a:rPr lang="en-US" sz="28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-aware transforms</a:t>
            </a:r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>
              <a:solidFill>
                <a:srgbClr val="080808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316AAC3-1226-7159-54F0-29AE29AA12AD}"/>
              </a:ext>
            </a:extLst>
          </p:cNvPr>
          <p:cNvSpPr txBox="1"/>
          <p:nvPr/>
        </p:nvSpPr>
        <p:spPr>
          <a:xfrm>
            <a:off x="17200930" y="13351304"/>
            <a:ext cx="4564326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dirty="0"/>
          </a:p>
          <a:p>
            <a:r>
              <a:rPr lang="en-US" sz="28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48,242 new images</a:t>
            </a:r>
            <a:endParaRPr lang="en-US" sz="2800" dirty="0"/>
          </a:p>
          <a:p>
            <a:r>
              <a:rPr lang="en-US" sz="28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Target: 200 images/species</a:t>
            </a:r>
            <a:endParaRPr lang="en-US" sz="2800" dirty="0"/>
          </a:p>
          <a:p>
            <a:endParaRPr lang="en-US" sz="2400" dirty="0"/>
          </a:p>
          <a:p>
            <a:endParaRPr lang="en-IN" sz="2400" dirty="0"/>
          </a:p>
        </p:txBody>
      </p:sp>
      <p:sp>
        <p:nvSpPr>
          <p:cNvPr id="91" name="Shape 40">
            <a:extLst>
              <a:ext uri="{FF2B5EF4-FFF2-40B4-BE49-F238E27FC236}">
                <a16:creationId xmlns:a16="http://schemas.microsoft.com/office/drawing/2014/main" id="{28699CD0-A23E-63B2-73F3-A919F376F030}"/>
              </a:ext>
            </a:extLst>
          </p:cNvPr>
          <p:cNvSpPr/>
          <p:nvPr/>
        </p:nvSpPr>
        <p:spPr>
          <a:xfrm>
            <a:off x="11653250" y="15835404"/>
            <a:ext cx="1862847" cy="17031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Text 41">
            <a:extLst>
              <a:ext uri="{FF2B5EF4-FFF2-40B4-BE49-F238E27FC236}">
                <a16:creationId xmlns:a16="http://schemas.microsoft.com/office/drawing/2014/main" id="{73DD1A78-E2B6-9C10-39A8-BE42F31F4A3D}"/>
              </a:ext>
            </a:extLst>
          </p:cNvPr>
          <p:cNvSpPr/>
          <p:nvPr/>
        </p:nvSpPr>
        <p:spPr>
          <a:xfrm>
            <a:off x="11904222" y="159052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04</a:t>
            </a:r>
          </a:p>
        </p:txBody>
      </p:sp>
      <p:sp>
        <p:nvSpPr>
          <p:cNvPr id="93" name="Text 42">
            <a:extLst>
              <a:ext uri="{FF2B5EF4-FFF2-40B4-BE49-F238E27FC236}">
                <a16:creationId xmlns:a16="http://schemas.microsoft.com/office/drawing/2014/main" id="{B7388832-8E3C-19B8-168B-9A37410C3A1A}"/>
              </a:ext>
            </a:extLst>
          </p:cNvPr>
          <p:cNvSpPr/>
          <p:nvPr/>
        </p:nvSpPr>
        <p:spPr>
          <a:xfrm>
            <a:off x="13749934" y="15835234"/>
            <a:ext cx="69434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Training Set</a:t>
            </a:r>
            <a:endParaRPr lang="en-US" sz="3200" dirty="0"/>
          </a:p>
        </p:txBody>
      </p:sp>
      <p:sp>
        <p:nvSpPr>
          <p:cNvPr id="95" name="Text 43">
            <a:extLst>
              <a:ext uri="{FF2B5EF4-FFF2-40B4-BE49-F238E27FC236}">
                <a16:creationId xmlns:a16="http://schemas.microsoft.com/office/drawing/2014/main" id="{438CA848-E3DE-B08C-E88E-1C35CAC1A2B7}"/>
              </a:ext>
            </a:extLst>
          </p:cNvPr>
          <p:cNvSpPr/>
          <p:nvPr/>
        </p:nvSpPr>
        <p:spPr>
          <a:xfrm>
            <a:off x="13767069" y="16741776"/>
            <a:ext cx="3471777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91,993 train / 8,007 </a:t>
            </a:r>
            <a:r>
              <a:rPr lang="en-US" sz="2800" dirty="0" err="1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val</a:t>
            </a:r>
            <a:endParaRPr lang="en-US" sz="2800" dirty="0"/>
          </a:p>
          <a:p>
            <a:r>
              <a:rPr lang="en-US" sz="28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100,000 total pairs</a:t>
            </a:r>
            <a:endParaRPr lang="en-US" sz="28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>
              <a:solidFill>
                <a:srgbClr val="080808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52CB47E-AFF5-62F6-AC8D-F8C704855431}"/>
              </a:ext>
            </a:extLst>
          </p:cNvPr>
          <p:cNvSpPr txBox="1"/>
          <p:nvPr/>
        </p:nvSpPr>
        <p:spPr>
          <a:xfrm>
            <a:off x="17146474" y="15879879"/>
            <a:ext cx="3881191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/>
          </a:p>
          <a:p>
            <a:r>
              <a:rPr lang="en-US" sz="28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640×640 resolution</a:t>
            </a:r>
            <a:endParaRPr lang="en-US" sz="2800" dirty="0"/>
          </a:p>
          <a:p>
            <a:r>
              <a:rPr lang="en-US" sz="2800" dirty="0">
                <a:solidFill>
                  <a:srgbClr val="0D1B2A"/>
                </a:solidFill>
                <a:ea typeface="Calibri" pitchFamily="34" charset="-122"/>
                <a:cs typeface="Calibri" pitchFamily="34" charset="-120"/>
              </a:rPr>
              <a:t>A100 GPU · 30 epochs</a:t>
            </a:r>
            <a:endParaRPr lang="en-US" sz="2800" dirty="0"/>
          </a:p>
          <a:p>
            <a:endParaRPr lang="en-US" sz="2400" dirty="0"/>
          </a:p>
          <a:p>
            <a:endParaRPr lang="en-US" sz="2400" dirty="0"/>
          </a:p>
          <a:p>
            <a:endParaRPr lang="en-IN" sz="24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0ECB032-78B2-F8C8-4970-CAED4EC83BA2}"/>
              </a:ext>
            </a:extLst>
          </p:cNvPr>
          <p:cNvSpPr txBox="1"/>
          <p:nvPr/>
        </p:nvSpPr>
        <p:spPr>
          <a:xfrm>
            <a:off x="11709593" y="23549230"/>
            <a:ext cx="46346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80808"/>
                </a:solidFill>
              </a:rPr>
              <a:t>Fig 2 (a) Original </a:t>
            </a:r>
            <a:r>
              <a:rPr lang="en-US" sz="2400" dirty="0" err="1">
                <a:solidFill>
                  <a:srgbClr val="080808"/>
                </a:solidFill>
              </a:rPr>
              <a:t>Inaturalist</a:t>
            </a:r>
            <a:r>
              <a:rPr lang="en-US" sz="2400" dirty="0">
                <a:solidFill>
                  <a:srgbClr val="080808"/>
                </a:solidFill>
              </a:rPr>
              <a:t> Data</a:t>
            </a:r>
            <a:endParaRPr lang="en-IN" sz="2400" dirty="0">
              <a:solidFill>
                <a:srgbClr val="080808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5A51C68-C6AC-6F00-2305-8048EA3143EA}"/>
              </a:ext>
            </a:extLst>
          </p:cNvPr>
          <p:cNvSpPr txBox="1"/>
          <p:nvPr/>
        </p:nvSpPr>
        <p:spPr>
          <a:xfrm>
            <a:off x="16649592" y="23539960"/>
            <a:ext cx="5063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80808"/>
                </a:solidFill>
              </a:rPr>
              <a:t>Fig 2 (b) Labelled Training Set Data</a:t>
            </a:r>
            <a:endParaRPr lang="en-IN" sz="2400" dirty="0">
              <a:solidFill>
                <a:srgbClr val="080808"/>
              </a:solidFill>
            </a:endParaRPr>
          </a:p>
        </p:txBody>
      </p:sp>
      <p:graphicFrame>
        <p:nvGraphicFramePr>
          <p:cNvPr id="107" name="Chart 4">
            <a:extLst>
              <a:ext uri="{FF2B5EF4-FFF2-40B4-BE49-F238E27FC236}">
                <a16:creationId xmlns:a16="http://schemas.microsoft.com/office/drawing/2014/main" id="{5E1A6098-0FF4-C6A2-FEBD-0BFACBC0DF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9501164"/>
              </p:ext>
            </p:extLst>
          </p:nvPr>
        </p:nvGraphicFramePr>
        <p:xfrm>
          <a:off x="21896702" y="6774370"/>
          <a:ext cx="10834624" cy="69874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8" name="TextBox 107">
            <a:extLst>
              <a:ext uri="{FF2B5EF4-FFF2-40B4-BE49-F238E27FC236}">
                <a16:creationId xmlns:a16="http://schemas.microsoft.com/office/drawing/2014/main" id="{3399BF91-D065-5B65-40DF-2B6DB6EEA9F7}"/>
              </a:ext>
            </a:extLst>
          </p:cNvPr>
          <p:cNvSpPr txBox="1"/>
          <p:nvPr/>
        </p:nvSpPr>
        <p:spPr>
          <a:xfrm>
            <a:off x="22418886" y="14053308"/>
            <a:ext cx="9784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80808"/>
                </a:solidFill>
              </a:rPr>
              <a:t>Fig 3 A sample of </a:t>
            </a:r>
            <a:r>
              <a:rPr lang="en-US" sz="2400" dirty="0" err="1">
                <a:solidFill>
                  <a:srgbClr val="080808"/>
                </a:solidFill>
              </a:rPr>
              <a:t>Albumentation</a:t>
            </a:r>
            <a:r>
              <a:rPr lang="en-US" sz="2400" dirty="0">
                <a:solidFill>
                  <a:srgbClr val="080808"/>
                </a:solidFill>
              </a:rPr>
              <a:t> (augmentation)</a:t>
            </a:r>
            <a:endParaRPr lang="en-IN" sz="2400" dirty="0">
              <a:solidFill>
                <a:srgbClr val="080808"/>
              </a:solidFill>
            </a:endParaRPr>
          </a:p>
        </p:txBody>
      </p:sp>
      <p:graphicFrame>
        <p:nvGraphicFramePr>
          <p:cNvPr id="110" name="Chart 0">
            <a:extLst>
              <a:ext uri="{FF2B5EF4-FFF2-40B4-BE49-F238E27FC236}">
                <a16:creationId xmlns:a16="http://schemas.microsoft.com/office/drawing/2014/main" id="{19976CAC-B9FD-A8A1-A0B3-6EAD9676B5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0171404"/>
              </p:ext>
            </p:extLst>
          </p:nvPr>
        </p:nvGraphicFramePr>
        <p:xfrm>
          <a:off x="33047349" y="15549833"/>
          <a:ext cx="10583910" cy="6766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2" name="Text 104">
            <a:extLst>
              <a:ext uri="{FF2B5EF4-FFF2-40B4-BE49-F238E27FC236}">
                <a16:creationId xmlns:a16="http://schemas.microsoft.com/office/drawing/2014/main" id="{2A2B3AD2-F203-C27E-8CA2-F398B59811D1}"/>
              </a:ext>
            </a:extLst>
          </p:cNvPr>
          <p:cNvSpPr/>
          <p:nvPr/>
        </p:nvSpPr>
        <p:spPr>
          <a:xfrm>
            <a:off x="33193568" y="14320227"/>
            <a:ext cx="9245168" cy="1080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2"/>
                </a:solidFill>
                <a:ea typeface="Calibri" pitchFamily="34" charset="-122"/>
                <a:cs typeface="Calibri" pitchFamily="34" charset="-120"/>
              </a:rPr>
              <a:t>Accuracy Metrics plot</a:t>
            </a:r>
            <a:endParaRPr lang="en-US" sz="4800" dirty="0">
              <a:solidFill>
                <a:schemeClr val="tx2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2CADDD6-1690-1206-8A45-953B30B6D732}"/>
              </a:ext>
            </a:extLst>
          </p:cNvPr>
          <p:cNvSpPr txBox="1"/>
          <p:nvPr/>
        </p:nvSpPr>
        <p:spPr>
          <a:xfrm>
            <a:off x="33447264" y="22465508"/>
            <a:ext cx="9784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80808"/>
                </a:solidFill>
              </a:rPr>
              <a:t>Fig 4  mAP50 progression over epochs</a:t>
            </a:r>
            <a:endParaRPr lang="en-IN" sz="2400" dirty="0">
              <a:solidFill>
                <a:srgbClr val="080808"/>
              </a:solidFill>
            </a:endParaRPr>
          </a:p>
        </p:txBody>
      </p:sp>
      <p:pic>
        <p:nvPicPr>
          <p:cNvPr id="10" name="Picture 9" descr="The image shows a snake with distinct black, yellow, and black stripes lying on the ground among fallen leaves.&#10;&#10;AI-generated content may be incorrect.">
            <a:extLst>
              <a:ext uri="{FF2B5EF4-FFF2-40B4-BE49-F238E27FC236}">
                <a16:creationId xmlns:a16="http://schemas.microsoft.com/office/drawing/2014/main" id="{35AF0D47-ADEF-3CD6-1D9B-DF68F45ADA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6630" y="18707512"/>
            <a:ext cx="5371281" cy="4704877"/>
          </a:xfrm>
          <a:prstGeom prst="rect">
            <a:avLst/>
          </a:prstGeom>
        </p:spPr>
      </p:pic>
      <p:pic>
        <p:nvPicPr>
          <p:cNvPr id="12" name="Picture 11" descr="The image shows a striped snake, Thamnophis atratus, with a black, yellow, and black band pattern.&#10;&#10;AI-generated content may be incorrect.">
            <a:extLst>
              <a:ext uri="{FF2B5EF4-FFF2-40B4-BE49-F238E27FC236}">
                <a16:creationId xmlns:a16="http://schemas.microsoft.com/office/drawing/2014/main" id="{D471428F-D36D-3E67-8512-9B3558B793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83672" y="18737744"/>
            <a:ext cx="4762500" cy="4656109"/>
          </a:xfrm>
          <a:prstGeom prst="rect">
            <a:avLst/>
          </a:prstGeom>
        </p:spPr>
      </p:pic>
      <p:pic>
        <p:nvPicPr>
          <p:cNvPr id="26" name="Picture Placeholder 25" descr="The image illustrates a WildLens data processing pipeline, featuring steps such as data collection, auto-labeling, image augmentation, and model training, leading to a fine-tuned detection and display system for species identification.&#10;&#10;AI-generated content may be incorrect.">
            <a:extLst>
              <a:ext uri="{FF2B5EF4-FFF2-40B4-BE49-F238E27FC236}">
                <a16:creationId xmlns:a16="http://schemas.microsoft.com/office/drawing/2014/main" id="{1202B8DE-202E-9ED2-0E0E-92D8FD1E27DD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7"/>
          <a:srcRect l="3151" r="3151"/>
          <a:stretch>
            <a:fillRect/>
          </a:stretch>
        </p:blipFill>
        <p:spPr>
          <a:xfrm>
            <a:off x="225" y="21097662"/>
            <a:ext cx="11165298" cy="8543002"/>
          </a:xfrm>
          <a:prstGeom prst="rect">
            <a:avLst/>
          </a:prstGeom>
          <a:solidFill>
            <a:srgbClr val="FFFFFF">
              <a:lumMod val="85000"/>
            </a:srgbClr>
          </a:solidFill>
        </p:spPr>
      </p:pic>
    </p:spTree>
    <p:extLst>
      <p:ext uri="{BB962C8B-B14F-4D97-AF65-F5344CB8AC3E}">
        <p14:creationId xmlns:p14="http://schemas.microsoft.com/office/powerpoint/2010/main" val="109865799"/>
      </p:ext>
    </p:extLst>
  </p:cSld>
  <p:clrMapOvr>
    <a:masterClrMapping/>
  </p:clrMapOvr>
</p:sld>
</file>

<file path=ppt/theme/theme1.xml><?xml version="1.0" encoding="utf-8"?>
<a:theme xmlns:a="http://schemas.openxmlformats.org/drawingml/2006/main" name="Research Poster Template">
  <a:themeElements>
    <a:clrScheme name="UB Color Palette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ST Accessible" id="{BC02AB42-924F-614D-9F02-5DAD031142A4}" vid="{CEC2668D-C73A-D648-809C-2002B42E64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Research Poster Template</Template>
  <TotalTime>2073</TotalTime>
  <Words>545</Words>
  <Application>Microsoft Office PowerPoint</Application>
  <PresentationFormat>Custom</PresentationFormat>
  <Paragraphs>93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System Font Regular</vt:lpstr>
      <vt:lpstr>Research Poster Template</vt:lpstr>
      <vt:lpstr>PowerPoint Presentation</vt:lpstr>
    </vt:vector>
  </TitlesOfParts>
  <Manager/>
  <Company/>
  <LinksUpToDate>false</LinksUpToDate>
  <SharedDoc>false</SharedDoc>
  <HyperlinkBase>www.buffalo.edu/brand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Prateek Ghosh</cp:lastModifiedBy>
  <cp:revision>15</cp:revision>
  <cp:lastPrinted>2018-07-27T15:05:13Z</cp:lastPrinted>
  <dcterms:created xsi:type="dcterms:W3CDTF">2019-03-28T18:35:19Z</dcterms:created>
  <dcterms:modified xsi:type="dcterms:W3CDTF">2026-04-30T00:26:13Z</dcterms:modified>
  <cp:category/>
</cp:coreProperties>
</file>